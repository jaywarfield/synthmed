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69" r:id="rId2"/>
    <p:sldId id="256" r:id="rId3"/>
    <p:sldId id="263" r:id="rId4"/>
    <p:sldId id="264" r:id="rId5"/>
    <p:sldId id="265" r:id="rId6"/>
    <p:sldId id="266" r:id="rId7"/>
    <p:sldId id="267" r:id="rId8"/>
    <p:sldId id="268" r:id="rId9"/>
    <p:sldId id="260" r:id="rId10"/>
    <p:sldId id="258" r:id="rId11"/>
    <p:sldId id="259" r:id="rId1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3249"/>
    <p:restoredTop sz="94649"/>
  </p:normalViewPr>
  <p:slideViewPr>
    <p:cSldViewPr snapToGrid="0">
      <p:cViewPr varScale="1">
        <p:scale>
          <a:sx n="73" d="100"/>
          <a:sy n="73" d="100"/>
        </p:scale>
        <p:origin x="520" y="48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8CB24C-1744-45B4-BE75-7C933007064D}"/>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B70EC705-6D55-172D-8E34-720EDB1282EC}"/>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27A36076-490C-4FE3-2BB3-31B042D8A3C3}"/>
              </a:ext>
            </a:extLst>
          </p:cNvPr>
          <p:cNvSpPr>
            <a:spLocks noGrp="1"/>
          </p:cNvSpPr>
          <p:nvPr>
            <p:ph type="dt" sz="half" idx="10"/>
          </p:nvPr>
        </p:nvSpPr>
        <p:spPr/>
        <p:txBody>
          <a:bodyPr/>
          <a:lstStyle/>
          <a:p>
            <a:fld id="{01B4C99B-34F7-BF49-B5DA-3B7E9DCBBB68}" type="datetimeFigureOut">
              <a:rPr lang="en-US" smtClean="0"/>
              <a:t>11/14/25</a:t>
            </a:fld>
            <a:endParaRPr lang="en-US"/>
          </a:p>
        </p:txBody>
      </p:sp>
      <p:sp>
        <p:nvSpPr>
          <p:cNvPr id="5" name="Footer Placeholder 4">
            <a:extLst>
              <a:ext uri="{FF2B5EF4-FFF2-40B4-BE49-F238E27FC236}">
                <a16:creationId xmlns:a16="http://schemas.microsoft.com/office/drawing/2014/main" id="{66239029-085A-A6FF-64BB-64378C55CE8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390F28A-5D39-2A2D-2087-99A69DD0E638}"/>
              </a:ext>
            </a:extLst>
          </p:cNvPr>
          <p:cNvSpPr>
            <a:spLocks noGrp="1"/>
          </p:cNvSpPr>
          <p:nvPr>
            <p:ph type="sldNum" sz="quarter" idx="12"/>
          </p:nvPr>
        </p:nvSpPr>
        <p:spPr/>
        <p:txBody>
          <a:bodyPr/>
          <a:lstStyle/>
          <a:p>
            <a:fld id="{413657D9-E755-1142-A353-FD455E730483}" type="slidenum">
              <a:rPr lang="en-US" smtClean="0"/>
              <a:t>‹#›</a:t>
            </a:fld>
            <a:endParaRPr lang="en-US"/>
          </a:p>
        </p:txBody>
      </p:sp>
    </p:spTree>
    <p:extLst>
      <p:ext uri="{BB962C8B-B14F-4D97-AF65-F5344CB8AC3E}">
        <p14:creationId xmlns:p14="http://schemas.microsoft.com/office/powerpoint/2010/main" val="205098321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552CAD-EEE1-4560-FFEE-C0F59FF935C1}"/>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22DF23D8-FBB5-C5B6-1665-FFC4FD9150F3}"/>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3A4EE66-07BB-E164-4947-8C120E4C4D07}"/>
              </a:ext>
            </a:extLst>
          </p:cNvPr>
          <p:cNvSpPr>
            <a:spLocks noGrp="1"/>
          </p:cNvSpPr>
          <p:nvPr>
            <p:ph type="dt" sz="half" idx="10"/>
          </p:nvPr>
        </p:nvSpPr>
        <p:spPr/>
        <p:txBody>
          <a:bodyPr/>
          <a:lstStyle/>
          <a:p>
            <a:fld id="{01B4C99B-34F7-BF49-B5DA-3B7E9DCBBB68}" type="datetimeFigureOut">
              <a:rPr lang="en-US" smtClean="0"/>
              <a:t>11/14/25</a:t>
            </a:fld>
            <a:endParaRPr lang="en-US"/>
          </a:p>
        </p:txBody>
      </p:sp>
      <p:sp>
        <p:nvSpPr>
          <p:cNvPr id="5" name="Footer Placeholder 4">
            <a:extLst>
              <a:ext uri="{FF2B5EF4-FFF2-40B4-BE49-F238E27FC236}">
                <a16:creationId xmlns:a16="http://schemas.microsoft.com/office/drawing/2014/main" id="{F8912631-DB0C-41A5-BFFF-A108D4C71F1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C396E16-14F4-D6D7-97F7-3CD64B232406}"/>
              </a:ext>
            </a:extLst>
          </p:cNvPr>
          <p:cNvSpPr>
            <a:spLocks noGrp="1"/>
          </p:cNvSpPr>
          <p:nvPr>
            <p:ph type="sldNum" sz="quarter" idx="12"/>
          </p:nvPr>
        </p:nvSpPr>
        <p:spPr/>
        <p:txBody>
          <a:bodyPr/>
          <a:lstStyle/>
          <a:p>
            <a:fld id="{413657D9-E755-1142-A353-FD455E730483}" type="slidenum">
              <a:rPr lang="en-US" smtClean="0"/>
              <a:t>‹#›</a:t>
            </a:fld>
            <a:endParaRPr lang="en-US"/>
          </a:p>
        </p:txBody>
      </p:sp>
    </p:spTree>
    <p:extLst>
      <p:ext uri="{BB962C8B-B14F-4D97-AF65-F5344CB8AC3E}">
        <p14:creationId xmlns:p14="http://schemas.microsoft.com/office/powerpoint/2010/main" val="410223140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D87614-CDB9-32D8-AB76-86579D9F8B5A}"/>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69D5719F-B69A-1E1B-14A3-293B666C4919}"/>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2590111B-E66B-829F-765B-C3941B700FB7}"/>
              </a:ext>
            </a:extLst>
          </p:cNvPr>
          <p:cNvSpPr>
            <a:spLocks noGrp="1"/>
          </p:cNvSpPr>
          <p:nvPr>
            <p:ph type="dt" sz="half" idx="10"/>
          </p:nvPr>
        </p:nvSpPr>
        <p:spPr/>
        <p:txBody>
          <a:bodyPr/>
          <a:lstStyle/>
          <a:p>
            <a:fld id="{01B4C99B-34F7-BF49-B5DA-3B7E9DCBBB68}" type="datetimeFigureOut">
              <a:rPr lang="en-US" smtClean="0"/>
              <a:t>11/14/25</a:t>
            </a:fld>
            <a:endParaRPr lang="en-US"/>
          </a:p>
        </p:txBody>
      </p:sp>
      <p:sp>
        <p:nvSpPr>
          <p:cNvPr id="5" name="Footer Placeholder 4">
            <a:extLst>
              <a:ext uri="{FF2B5EF4-FFF2-40B4-BE49-F238E27FC236}">
                <a16:creationId xmlns:a16="http://schemas.microsoft.com/office/drawing/2014/main" id="{4F614889-5F8F-8557-7FBC-24493A4C97C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31DBB1B-FB78-243C-403C-16FF5B508869}"/>
              </a:ext>
            </a:extLst>
          </p:cNvPr>
          <p:cNvSpPr>
            <a:spLocks noGrp="1"/>
          </p:cNvSpPr>
          <p:nvPr>
            <p:ph type="sldNum" sz="quarter" idx="12"/>
          </p:nvPr>
        </p:nvSpPr>
        <p:spPr/>
        <p:txBody>
          <a:bodyPr/>
          <a:lstStyle/>
          <a:p>
            <a:fld id="{413657D9-E755-1142-A353-FD455E730483}" type="slidenum">
              <a:rPr lang="en-US" smtClean="0"/>
              <a:t>‹#›</a:t>
            </a:fld>
            <a:endParaRPr lang="en-US"/>
          </a:p>
        </p:txBody>
      </p:sp>
    </p:spTree>
    <p:extLst>
      <p:ext uri="{BB962C8B-B14F-4D97-AF65-F5344CB8AC3E}">
        <p14:creationId xmlns:p14="http://schemas.microsoft.com/office/powerpoint/2010/main" val="17739545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EBACCE-AB85-923C-E510-E046D7E1E24E}"/>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F2B75F53-ECDE-6397-C415-E3922FC23D6C}"/>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D00ECB06-B9A9-7741-AE3A-CF28F19060E9}"/>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38DF2EDB-D021-407F-7884-0B1B04C7F6BA}"/>
              </a:ext>
            </a:extLst>
          </p:cNvPr>
          <p:cNvSpPr>
            <a:spLocks noGrp="1"/>
          </p:cNvSpPr>
          <p:nvPr>
            <p:ph type="dt" sz="half" idx="10"/>
          </p:nvPr>
        </p:nvSpPr>
        <p:spPr/>
        <p:txBody>
          <a:bodyPr/>
          <a:lstStyle/>
          <a:p>
            <a:fld id="{01B4C99B-34F7-BF49-B5DA-3B7E9DCBBB68}" type="datetimeFigureOut">
              <a:rPr lang="en-US" smtClean="0"/>
              <a:t>11/14/25</a:t>
            </a:fld>
            <a:endParaRPr lang="en-US"/>
          </a:p>
        </p:txBody>
      </p:sp>
      <p:sp>
        <p:nvSpPr>
          <p:cNvPr id="6" name="Footer Placeholder 5">
            <a:extLst>
              <a:ext uri="{FF2B5EF4-FFF2-40B4-BE49-F238E27FC236}">
                <a16:creationId xmlns:a16="http://schemas.microsoft.com/office/drawing/2014/main" id="{5D573A69-E31C-795F-4F82-F80320048625}"/>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FDA10B67-FC87-DCF4-19D9-797E7A7E24FF}"/>
              </a:ext>
            </a:extLst>
          </p:cNvPr>
          <p:cNvSpPr>
            <a:spLocks noGrp="1"/>
          </p:cNvSpPr>
          <p:nvPr>
            <p:ph type="sldNum" sz="quarter" idx="12"/>
          </p:nvPr>
        </p:nvSpPr>
        <p:spPr/>
        <p:txBody>
          <a:bodyPr/>
          <a:lstStyle/>
          <a:p>
            <a:fld id="{413657D9-E755-1142-A353-FD455E730483}" type="slidenum">
              <a:rPr lang="en-US" smtClean="0"/>
              <a:t>‹#›</a:t>
            </a:fld>
            <a:endParaRPr lang="en-US"/>
          </a:p>
        </p:txBody>
      </p:sp>
    </p:spTree>
    <p:extLst>
      <p:ext uri="{BB962C8B-B14F-4D97-AF65-F5344CB8AC3E}">
        <p14:creationId xmlns:p14="http://schemas.microsoft.com/office/powerpoint/2010/main" val="120542458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1EDEED-1B3E-6CC3-CB2B-0F6807D94C7F}"/>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12D94048-29BB-973A-18FB-CD7EBC850CD4}"/>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2F6C5A9C-C6C9-EEF7-BA43-F60802883176}"/>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D0CE45A4-1F52-F8CC-CFB5-AF963D342EDD}"/>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D2D89D18-F083-24CB-99EE-0811CDDF6F76}"/>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D52E6FAA-93D9-A9B6-CEED-2E8FC9C10F90}"/>
              </a:ext>
            </a:extLst>
          </p:cNvPr>
          <p:cNvSpPr>
            <a:spLocks noGrp="1"/>
          </p:cNvSpPr>
          <p:nvPr>
            <p:ph type="dt" sz="half" idx="10"/>
          </p:nvPr>
        </p:nvSpPr>
        <p:spPr/>
        <p:txBody>
          <a:bodyPr/>
          <a:lstStyle/>
          <a:p>
            <a:fld id="{01B4C99B-34F7-BF49-B5DA-3B7E9DCBBB68}" type="datetimeFigureOut">
              <a:rPr lang="en-US" smtClean="0"/>
              <a:t>11/14/25</a:t>
            </a:fld>
            <a:endParaRPr lang="en-US"/>
          </a:p>
        </p:txBody>
      </p:sp>
      <p:sp>
        <p:nvSpPr>
          <p:cNvPr id="8" name="Footer Placeholder 7">
            <a:extLst>
              <a:ext uri="{FF2B5EF4-FFF2-40B4-BE49-F238E27FC236}">
                <a16:creationId xmlns:a16="http://schemas.microsoft.com/office/drawing/2014/main" id="{CE9FADE1-E0F4-B065-F55D-DEF9CDC0FD06}"/>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155CD636-D912-FEB8-3A81-AD48852E3EB2}"/>
              </a:ext>
            </a:extLst>
          </p:cNvPr>
          <p:cNvSpPr>
            <a:spLocks noGrp="1"/>
          </p:cNvSpPr>
          <p:nvPr>
            <p:ph type="sldNum" sz="quarter" idx="12"/>
          </p:nvPr>
        </p:nvSpPr>
        <p:spPr/>
        <p:txBody>
          <a:bodyPr/>
          <a:lstStyle/>
          <a:p>
            <a:fld id="{413657D9-E755-1142-A353-FD455E730483}" type="slidenum">
              <a:rPr lang="en-US" smtClean="0"/>
              <a:t>‹#›</a:t>
            </a:fld>
            <a:endParaRPr lang="en-US"/>
          </a:p>
        </p:txBody>
      </p:sp>
    </p:spTree>
    <p:extLst>
      <p:ext uri="{BB962C8B-B14F-4D97-AF65-F5344CB8AC3E}">
        <p14:creationId xmlns:p14="http://schemas.microsoft.com/office/powerpoint/2010/main" val="126047024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7EAF50-7DF7-0DA5-6A8F-DBFC7DCD5080}"/>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6BBA86AC-F5D5-F836-E5E4-7095F3CC462A}"/>
              </a:ext>
            </a:extLst>
          </p:cNvPr>
          <p:cNvSpPr>
            <a:spLocks noGrp="1"/>
          </p:cNvSpPr>
          <p:nvPr>
            <p:ph type="dt" sz="half" idx="10"/>
          </p:nvPr>
        </p:nvSpPr>
        <p:spPr/>
        <p:txBody>
          <a:bodyPr/>
          <a:lstStyle/>
          <a:p>
            <a:fld id="{01B4C99B-34F7-BF49-B5DA-3B7E9DCBBB68}" type="datetimeFigureOut">
              <a:rPr lang="en-US" smtClean="0"/>
              <a:t>11/14/25</a:t>
            </a:fld>
            <a:endParaRPr lang="en-US"/>
          </a:p>
        </p:txBody>
      </p:sp>
      <p:sp>
        <p:nvSpPr>
          <p:cNvPr id="4" name="Footer Placeholder 3">
            <a:extLst>
              <a:ext uri="{FF2B5EF4-FFF2-40B4-BE49-F238E27FC236}">
                <a16:creationId xmlns:a16="http://schemas.microsoft.com/office/drawing/2014/main" id="{298C37D3-75AA-26FC-3398-1A1EC4D44F8C}"/>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B28993AF-F065-CE75-E3A4-1DC97C6104A5}"/>
              </a:ext>
            </a:extLst>
          </p:cNvPr>
          <p:cNvSpPr>
            <a:spLocks noGrp="1"/>
          </p:cNvSpPr>
          <p:nvPr>
            <p:ph type="sldNum" sz="quarter" idx="12"/>
          </p:nvPr>
        </p:nvSpPr>
        <p:spPr/>
        <p:txBody>
          <a:bodyPr/>
          <a:lstStyle/>
          <a:p>
            <a:fld id="{413657D9-E755-1142-A353-FD455E730483}" type="slidenum">
              <a:rPr lang="en-US" smtClean="0"/>
              <a:t>‹#›</a:t>
            </a:fld>
            <a:endParaRPr lang="en-US"/>
          </a:p>
        </p:txBody>
      </p:sp>
    </p:spTree>
    <p:extLst>
      <p:ext uri="{BB962C8B-B14F-4D97-AF65-F5344CB8AC3E}">
        <p14:creationId xmlns:p14="http://schemas.microsoft.com/office/powerpoint/2010/main" val="238251524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2850872D-873F-108A-3999-C920EE9D47B6}"/>
              </a:ext>
            </a:extLst>
          </p:cNvPr>
          <p:cNvSpPr>
            <a:spLocks noGrp="1"/>
          </p:cNvSpPr>
          <p:nvPr>
            <p:ph type="dt" sz="half" idx="10"/>
          </p:nvPr>
        </p:nvSpPr>
        <p:spPr/>
        <p:txBody>
          <a:bodyPr/>
          <a:lstStyle/>
          <a:p>
            <a:fld id="{01B4C99B-34F7-BF49-B5DA-3B7E9DCBBB68}" type="datetimeFigureOut">
              <a:rPr lang="en-US" smtClean="0"/>
              <a:t>11/14/25</a:t>
            </a:fld>
            <a:endParaRPr lang="en-US"/>
          </a:p>
        </p:txBody>
      </p:sp>
      <p:sp>
        <p:nvSpPr>
          <p:cNvPr id="3" name="Footer Placeholder 2">
            <a:extLst>
              <a:ext uri="{FF2B5EF4-FFF2-40B4-BE49-F238E27FC236}">
                <a16:creationId xmlns:a16="http://schemas.microsoft.com/office/drawing/2014/main" id="{D072AFEF-B547-0236-75F7-B043FC99DD2D}"/>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65F3B2F1-2FF4-E946-7A90-FA66C2A98A46}"/>
              </a:ext>
            </a:extLst>
          </p:cNvPr>
          <p:cNvSpPr>
            <a:spLocks noGrp="1"/>
          </p:cNvSpPr>
          <p:nvPr>
            <p:ph type="sldNum" sz="quarter" idx="12"/>
          </p:nvPr>
        </p:nvSpPr>
        <p:spPr/>
        <p:txBody>
          <a:bodyPr/>
          <a:lstStyle/>
          <a:p>
            <a:fld id="{413657D9-E755-1142-A353-FD455E730483}" type="slidenum">
              <a:rPr lang="en-US" smtClean="0"/>
              <a:t>‹#›</a:t>
            </a:fld>
            <a:endParaRPr lang="en-US"/>
          </a:p>
        </p:txBody>
      </p:sp>
    </p:spTree>
    <p:extLst>
      <p:ext uri="{BB962C8B-B14F-4D97-AF65-F5344CB8AC3E}">
        <p14:creationId xmlns:p14="http://schemas.microsoft.com/office/powerpoint/2010/main" val="103693095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608CF0-D66A-51F9-C36A-A8233DF4DDC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20FBBBB3-9057-9718-E28A-713C0E1069BF}"/>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DF18D563-DC22-FEE7-FA67-49F2E01F84A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DC4D12D-E73F-6A6C-D75D-98F12607B0FF}"/>
              </a:ext>
            </a:extLst>
          </p:cNvPr>
          <p:cNvSpPr>
            <a:spLocks noGrp="1"/>
          </p:cNvSpPr>
          <p:nvPr>
            <p:ph type="dt" sz="half" idx="10"/>
          </p:nvPr>
        </p:nvSpPr>
        <p:spPr/>
        <p:txBody>
          <a:bodyPr/>
          <a:lstStyle/>
          <a:p>
            <a:fld id="{01B4C99B-34F7-BF49-B5DA-3B7E9DCBBB68}" type="datetimeFigureOut">
              <a:rPr lang="en-US" smtClean="0"/>
              <a:t>11/14/25</a:t>
            </a:fld>
            <a:endParaRPr lang="en-US"/>
          </a:p>
        </p:txBody>
      </p:sp>
      <p:sp>
        <p:nvSpPr>
          <p:cNvPr id="6" name="Footer Placeholder 5">
            <a:extLst>
              <a:ext uri="{FF2B5EF4-FFF2-40B4-BE49-F238E27FC236}">
                <a16:creationId xmlns:a16="http://schemas.microsoft.com/office/drawing/2014/main" id="{C033A456-0B4F-17C1-A3D9-506ACA1FE04D}"/>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84C45A41-9C7A-67C8-F778-2F2EC068E4BF}"/>
              </a:ext>
            </a:extLst>
          </p:cNvPr>
          <p:cNvSpPr>
            <a:spLocks noGrp="1"/>
          </p:cNvSpPr>
          <p:nvPr>
            <p:ph type="sldNum" sz="quarter" idx="12"/>
          </p:nvPr>
        </p:nvSpPr>
        <p:spPr/>
        <p:txBody>
          <a:bodyPr/>
          <a:lstStyle/>
          <a:p>
            <a:fld id="{413657D9-E755-1142-A353-FD455E730483}" type="slidenum">
              <a:rPr lang="en-US" smtClean="0"/>
              <a:t>‹#›</a:t>
            </a:fld>
            <a:endParaRPr lang="en-US"/>
          </a:p>
        </p:txBody>
      </p:sp>
    </p:spTree>
    <p:extLst>
      <p:ext uri="{BB962C8B-B14F-4D97-AF65-F5344CB8AC3E}">
        <p14:creationId xmlns:p14="http://schemas.microsoft.com/office/powerpoint/2010/main" val="220990020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69AC73-2A91-BB1A-C4AB-420BB78A363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39AB8AFF-E331-E4AB-6F84-A8E06D0032C3}"/>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754219E0-F536-B684-C03A-41FA925568F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223460B-55EB-64F1-C06D-7393AD00F7B9}"/>
              </a:ext>
            </a:extLst>
          </p:cNvPr>
          <p:cNvSpPr>
            <a:spLocks noGrp="1"/>
          </p:cNvSpPr>
          <p:nvPr>
            <p:ph type="dt" sz="half" idx="10"/>
          </p:nvPr>
        </p:nvSpPr>
        <p:spPr/>
        <p:txBody>
          <a:bodyPr/>
          <a:lstStyle/>
          <a:p>
            <a:fld id="{01B4C99B-34F7-BF49-B5DA-3B7E9DCBBB68}" type="datetimeFigureOut">
              <a:rPr lang="en-US" smtClean="0"/>
              <a:t>11/14/25</a:t>
            </a:fld>
            <a:endParaRPr lang="en-US"/>
          </a:p>
        </p:txBody>
      </p:sp>
      <p:sp>
        <p:nvSpPr>
          <p:cNvPr id="6" name="Footer Placeholder 5">
            <a:extLst>
              <a:ext uri="{FF2B5EF4-FFF2-40B4-BE49-F238E27FC236}">
                <a16:creationId xmlns:a16="http://schemas.microsoft.com/office/drawing/2014/main" id="{ACCFCCAD-F3CA-1B56-14F1-80F662DDF30D}"/>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DEF5578D-132B-2FC8-8F7B-A1F748349DAE}"/>
              </a:ext>
            </a:extLst>
          </p:cNvPr>
          <p:cNvSpPr>
            <a:spLocks noGrp="1"/>
          </p:cNvSpPr>
          <p:nvPr>
            <p:ph type="sldNum" sz="quarter" idx="12"/>
          </p:nvPr>
        </p:nvSpPr>
        <p:spPr/>
        <p:txBody>
          <a:bodyPr/>
          <a:lstStyle/>
          <a:p>
            <a:fld id="{413657D9-E755-1142-A353-FD455E730483}" type="slidenum">
              <a:rPr lang="en-US" smtClean="0"/>
              <a:t>‹#›</a:t>
            </a:fld>
            <a:endParaRPr lang="en-US"/>
          </a:p>
        </p:txBody>
      </p:sp>
    </p:spTree>
    <p:extLst>
      <p:ext uri="{BB962C8B-B14F-4D97-AF65-F5344CB8AC3E}">
        <p14:creationId xmlns:p14="http://schemas.microsoft.com/office/powerpoint/2010/main" val="176555186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2FEB96-C70F-C20C-A60D-059DD029D744}"/>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A9B83D60-C972-844F-0EAB-97205A39BB58}"/>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5A3D825-965F-BE28-49C4-5A962FB15827}"/>
              </a:ext>
            </a:extLst>
          </p:cNvPr>
          <p:cNvSpPr>
            <a:spLocks noGrp="1"/>
          </p:cNvSpPr>
          <p:nvPr>
            <p:ph type="dt" sz="half" idx="10"/>
          </p:nvPr>
        </p:nvSpPr>
        <p:spPr/>
        <p:txBody>
          <a:bodyPr/>
          <a:lstStyle/>
          <a:p>
            <a:fld id="{01B4C99B-34F7-BF49-B5DA-3B7E9DCBBB68}" type="datetimeFigureOut">
              <a:rPr lang="en-US" smtClean="0"/>
              <a:t>11/14/25</a:t>
            </a:fld>
            <a:endParaRPr lang="en-US"/>
          </a:p>
        </p:txBody>
      </p:sp>
      <p:sp>
        <p:nvSpPr>
          <p:cNvPr id="5" name="Footer Placeholder 4">
            <a:extLst>
              <a:ext uri="{FF2B5EF4-FFF2-40B4-BE49-F238E27FC236}">
                <a16:creationId xmlns:a16="http://schemas.microsoft.com/office/drawing/2014/main" id="{6BE469AE-C05B-AF3F-D056-8C43DD9D98F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8F905B3-FDA1-7262-18FB-F2A02D07C4B7}"/>
              </a:ext>
            </a:extLst>
          </p:cNvPr>
          <p:cNvSpPr>
            <a:spLocks noGrp="1"/>
          </p:cNvSpPr>
          <p:nvPr>
            <p:ph type="sldNum" sz="quarter" idx="12"/>
          </p:nvPr>
        </p:nvSpPr>
        <p:spPr/>
        <p:txBody>
          <a:bodyPr/>
          <a:lstStyle/>
          <a:p>
            <a:fld id="{413657D9-E755-1142-A353-FD455E730483}" type="slidenum">
              <a:rPr lang="en-US" smtClean="0"/>
              <a:t>‹#›</a:t>
            </a:fld>
            <a:endParaRPr lang="en-US"/>
          </a:p>
        </p:txBody>
      </p:sp>
    </p:spTree>
    <p:extLst>
      <p:ext uri="{BB962C8B-B14F-4D97-AF65-F5344CB8AC3E}">
        <p14:creationId xmlns:p14="http://schemas.microsoft.com/office/powerpoint/2010/main" val="373963831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3FF59F13-B90F-AAD0-7832-1DC82969AAA3}"/>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0550D852-3839-DF7C-3E49-77CFB82E32BE}"/>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525F7ED-99B2-CCCF-9CB3-F67D14B2C65D}"/>
              </a:ext>
            </a:extLst>
          </p:cNvPr>
          <p:cNvSpPr>
            <a:spLocks noGrp="1"/>
          </p:cNvSpPr>
          <p:nvPr>
            <p:ph type="dt" sz="half" idx="10"/>
          </p:nvPr>
        </p:nvSpPr>
        <p:spPr/>
        <p:txBody>
          <a:bodyPr/>
          <a:lstStyle/>
          <a:p>
            <a:fld id="{01B4C99B-34F7-BF49-B5DA-3B7E9DCBBB68}" type="datetimeFigureOut">
              <a:rPr lang="en-US" smtClean="0"/>
              <a:t>11/14/25</a:t>
            </a:fld>
            <a:endParaRPr lang="en-US"/>
          </a:p>
        </p:txBody>
      </p:sp>
      <p:sp>
        <p:nvSpPr>
          <p:cNvPr id="5" name="Footer Placeholder 4">
            <a:extLst>
              <a:ext uri="{FF2B5EF4-FFF2-40B4-BE49-F238E27FC236}">
                <a16:creationId xmlns:a16="http://schemas.microsoft.com/office/drawing/2014/main" id="{36444933-28E8-D6DC-4E58-51BFF5DF965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7F0D21B-9032-F3A0-35AE-7AFE0FB8E90D}"/>
              </a:ext>
            </a:extLst>
          </p:cNvPr>
          <p:cNvSpPr>
            <a:spLocks noGrp="1"/>
          </p:cNvSpPr>
          <p:nvPr>
            <p:ph type="sldNum" sz="quarter" idx="12"/>
          </p:nvPr>
        </p:nvSpPr>
        <p:spPr/>
        <p:txBody>
          <a:bodyPr/>
          <a:lstStyle/>
          <a:p>
            <a:fld id="{413657D9-E755-1142-A353-FD455E730483}" type="slidenum">
              <a:rPr lang="en-US" smtClean="0"/>
              <a:t>‹#›</a:t>
            </a:fld>
            <a:endParaRPr lang="en-US"/>
          </a:p>
        </p:txBody>
      </p:sp>
    </p:spTree>
    <p:extLst>
      <p:ext uri="{BB962C8B-B14F-4D97-AF65-F5344CB8AC3E}">
        <p14:creationId xmlns:p14="http://schemas.microsoft.com/office/powerpoint/2010/main" val="268623062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DED2BD5B-B902-877A-F09B-33164F1E2BB4}"/>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25189565-1F99-EFF8-5758-0AA0A4141584}"/>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A09159F-9C8F-38A6-F3B8-BBBFAB6BC9D2}"/>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01B4C99B-34F7-BF49-B5DA-3B7E9DCBBB68}" type="datetimeFigureOut">
              <a:rPr lang="en-US" smtClean="0"/>
              <a:t>11/14/25</a:t>
            </a:fld>
            <a:endParaRPr lang="en-US"/>
          </a:p>
        </p:txBody>
      </p:sp>
      <p:sp>
        <p:nvSpPr>
          <p:cNvPr id="5" name="Footer Placeholder 4">
            <a:extLst>
              <a:ext uri="{FF2B5EF4-FFF2-40B4-BE49-F238E27FC236}">
                <a16:creationId xmlns:a16="http://schemas.microsoft.com/office/drawing/2014/main" id="{0D213C85-D837-5752-80B9-AA3BC277834B}"/>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BAF9CC7A-8421-B0A0-401A-4B51415FBF8D}"/>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413657D9-E755-1142-A353-FD455E730483}" type="slidenum">
              <a:rPr lang="en-US" smtClean="0"/>
              <a:t>‹#›</a:t>
            </a:fld>
            <a:endParaRPr lang="en-US"/>
          </a:p>
        </p:txBody>
      </p:sp>
    </p:spTree>
    <p:extLst>
      <p:ext uri="{BB962C8B-B14F-4D97-AF65-F5344CB8AC3E}">
        <p14:creationId xmlns:p14="http://schemas.microsoft.com/office/powerpoint/2010/main" val="167145668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B29AB6-7089-D703-3E61-C71AC110C9F9}"/>
              </a:ext>
            </a:extLst>
          </p:cNvPr>
          <p:cNvSpPr>
            <a:spLocks noGrp="1"/>
          </p:cNvSpPr>
          <p:nvPr>
            <p:ph type="title"/>
          </p:nvPr>
        </p:nvSpPr>
        <p:spPr>
          <a:xfrm>
            <a:off x="1336431" y="2795954"/>
            <a:ext cx="9765324" cy="2778369"/>
          </a:xfrm>
        </p:spPr>
        <p:txBody>
          <a:bodyPr>
            <a:normAutofit/>
          </a:bodyPr>
          <a:lstStyle/>
          <a:p>
            <a:r>
              <a:rPr lang="en-US" dirty="0"/>
              <a:t>                             </a:t>
            </a:r>
            <a:r>
              <a:rPr lang="en-US" sz="5400" dirty="0" err="1"/>
              <a:t>SynthMed</a:t>
            </a:r>
            <a:br>
              <a:rPr lang="en-US" sz="5400" dirty="0"/>
            </a:br>
            <a:r>
              <a:rPr lang="en-US" dirty="0"/>
              <a:t>           </a:t>
            </a:r>
            <a:r>
              <a:rPr lang="en-US" sz="3200" dirty="0"/>
              <a:t>AI Agent for Medical Research Synthesis</a:t>
            </a:r>
            <a:br>
              <a:rPr lang="en-US" dirty="0"/>
            </a:br>
            <a:r>
              <a:rPr lang="en-US" dirty="0"/>
              <a:t>                      </a:t>
            </a:r>
            <a:r>
              <a:rPr lang="en-US" sz="2400" dirty="0"/>
              <a:t>powered by IBM </a:t>
            </a:r>
            <a:r>
              <a:rPr lang="en-US" sz="2400" dirty="0" err="1"/>
              <a:t>watsonx</a:t>
            </a:r>
            <a:r>
              <a:rPr lang="en-US" sz="2400" dirty="0"/>
              <a:t> Orchestrate</a:t>
            </a:r>
          </a:p>
        </p:txBody>
      </p:sp>
      <p:pic>
        <p:nvPicPr>
          <p:cNvPr id="7" name="Picture 6" descr="A green and white logo&#10;&#10;AI-generated content may be incorrect.">
            <a:extLst>
              <a:ext uri="{FF2B5EF4-FFF2-40B4-BE49-F238E27FC236}">
                <a16:creationId xmlns:a16="http://schemas.microsoft.com/office/drawing/2014/main" id="{F46A6C98-EA79-E46B-A20F-637250E54E44}"/>
              </a:ext>
            </a:extLst>
          </p:cNvPr>
          <p:cNvPicPr>
            <a:picLocks noChangeAspect="1"/>
          </p:cNvPicPr>
          <p:nvPr/>
        </p:nvPicPr>
        <p:blipFill>
          <a:blip r:embed="rId2"/>
          <a:stretch>
            <a:fillRect/>
          </a:stretch>
        </p:blipFill>
        <p:spPr>
          <a:xfrm>
            <a:off x="5121211" y="787889"/>
            <a:ext cx="1949578" cy="2008065"/>
          </a:xfrm>
          <a:prstGeom prst="rect">
            <a:avLst/>
          </a:prstGeom>
        </p:spPr>
      </p:pic>
    </p:spTree>
    <p:extLst>
      <p:ext uri="{BB962C8B-B14F-4D97-AF65-F5344CB8AC3E}">
        <p14:creationId xmlns:p14="http://schemas.microsoft.com/office/powerpoint/2010/main" val="129681045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93D115B8-E86F-64A1-C4A4-376A647F6E30}"/>
              </a:ext>
            </a:extLst>
          </p:cNvPr>
          <p:cNvSpPr txBox="1"/>
          <p:nvPr/>
        </p:nvSpPr>
        <p:spPr>
          <a:xfrm>
            <a:off x="438150" y="640913"/>
            <a:ext cx="10288465" cy="1354217"/>
          </a:xfrm>
          <a:prstGeom prst="rect">
            <a:avLst/>
          </a:prstGeom>
          <a:noFill/>
        </p:spPr>
        <p:txBody>
          <a:bodyPr wrap="square">
            <a:spAutoFit/>
          </a:bodyPr>
          <a:lstStyle/>
          <a:p>
            <a:pPr>
              <a:spcAft>
                <a:spcPts val="1200"/>
              </a:spcAft>
            </a:pPr>
            <a:r>
              <a:rPr lang="en-US" b="1" dirty="0">
                <a:solidFill>
                  <a:srgbClr val="161616"/>
                </a:solidFill>
                <a:effectLst/>
              </a:rPr>
              <a:t>Question</a:t>
            </a:r>
          </a:p>
          <a:p>
            <a:pPr>
              <a:spcAft>
                <a:spcPts val="1200"/>
              </a:spcAft>
            </a:pPr>
            <a:r>
              <a:rPr lang="en-US" dirty="0">
                <a:solidFill>
                  <a:srgbClr val="161616"/>
                </a:solidFill>
                <a:latin typeface="IBM Plex Sans" panose="020B0503050203000203" pitchFamily="34" charset="0"/>
              </a:rPr>
              <a:t>Compare and contrast the current evidence for the most promising emerging biomarkers used for the pre-symptomatic diagnosis of Autism Spectrum Disorder (ASD).  Specifically, discuss findings related to neuroimaging versus metabolic markers.  </a:t>
            </a:r>
            <a:endParaRPr lang="en-US" dirty="0"/>
          </a:p>
        </p:txBody>
      </p:sp>
      <p:sp>
        <p:nvSpPr>
          <p:cNvPr id="10" name="TextBox 9">
            <a:extLst>
              <a:ext uri="{FF2B5EF4-FFF2-40B4-BE49-F238E27FC236}">
                <a16:creationId xmlns:a16="http://schemas.microsoft.com/office/drawing/2014/main" id="{9038D083-DC9D-EB83-B7F4-0D50004376F6}"/>
              </a:ext>
            </a:extLst>
          </p:cNvPr>
          <p:cNvSpPr txBox="1"/>
          <p:nvPr/>
        </p:nvSpPr>
        <p:spPr>
          <a:xfrm>
            <a:off x="438150" y="121724"/>
            <a:ext cx="6093068" cy="461665"/>
          </a:xfrm>
          <a:prstGeom prst="rect">
            <a:avLst/>
          </a:prstGeom>
          <a:noFill/>
        </p:spPr>
        <p:txBody>
          <a:bodyPr wrap="square">
            <a:spAutoFit/>
          </a:bodyPr>
          <a:lstStyle/>
          <a:p>
            <a:pPr algn="l" fontAlgn="auto">
              <a:buNone/>
            </a:pPr>
            <a:r>
              <a:rPr lang="en-US" sz="2400" b="1" dirty="0" err="1">
                <a:solidFill>
                  <a:srgbClr val="525252"/>
                </a:solidFill>
                <a:effectLst/>
              </a:rPr>
              <a:t>SynthMed</a:t>
            </a:r>
            <a:r>
              <a:rPr lang="en-US" sz="2400" b="1" dirty="0">
                <a:solidFill>
                  <a:srgbClr val="525252"/>
                </a:solidFill>
                <a:effectLst/>
              </a:rPr>
              <a:t> Agent - Question 1</a:t>
            </a:r>
            <a:endParaRPr lang="en-US" sz="2400" b="1" dirty="0">
              <a:solidFill>
                <a:srgbClr val="161616"/>
              </a:solidFill>
              <a:effectLst/>
            </a:endParaRPr>
          </a:p>
        </p:txBody>
      </p:sp>
      <p:sp>
        <p:nvSpPr>
          <p:cNvPr id="14" name="TextBox 13">
            <a:extLst>
              <a:ext uri="{FF2B5EF4-FFF2-40B4-BE49-F238E27FC236}">
                <a16:creationId xmlns:a16="http://schemas.microsoft.com/office/drawing/2014/main" id="{C2D9B9D7-E8F9-1FDC-AEBE-246621A1A468}"/>
              </a:ext>
            </a:extLst>
          </p:cNvPr>
          <p:cNvSpPr txBox="1"/>
          <p:nvPr/>
        </p:nvSpPr>
        <p:spPr>
          <a:xfrm>
            <a:off x="438150" y="2095892"/>
            <a:ext cx="11449050" cy="4862870"/>
          </a:xfrm>
          <a:prstGeom prst="rect">
            <a:avLst/>
          </a:prstGeom>
          <a:noFill/>
        </p:spPr>
        <p:txBody>
          <a:bodyPr wrap="square">
            <a:spAutoFit/>
          </a:bodyPr>
          <a:lstStyle/>
          <a:p>
            <a:pPr algn="l" fontAlgn="auto">
              <a:spcAft>
                <a:spcPts val="1200"/>
              </a:spcAft>
              <a:buNone/>
            </a:pPr>
            <a:r>
              <a:rPr lang="en-US" b="1" dirty="0">
                <a:solidFill>
                  <a:srgbClr val="161616"/>
                </a:solidFill>
                <a:effectLst/>
              </a:rPr>
              <a:t>Executive Summary</a:t>
            </a:r>
            <a:endParaRPr lang="en-US" dirty="0">
              <a:solidFill>
                <a:srgbClr val="161616"/>
              </a:solidFill>
              <a:effectLst/>
            </a:endParaRPr>
          </a:p>
          <a:p>
            <a:pPr algn="l" fontAlgn="auto">
              <a:spcAft>
                <a:spcPts val="1200"/>
              </a:spcAft>
              <a:buNone/>
            </a:pPr>
            <a:r>
              <a:rPr lang="en-US" dirty="0">
                <a:solidFill>
                  <a:srgbClr val="161616"/>
                </a:solidFill>
                <a:effectLst/>
              </a:rPr>
              <a:t>Autism Spectrum Disorder (ASD) is a complex neurodevelopmental disorder that affects communication, social interaction, and behavior. Early diagnosis and intervention are critical for improving outcomes, but current diagnostic methods rely on behavioral observations and often have limited accuracy. Recent research has focused on identifying biomarkers for pre-symptomatic diagnosis of ASD, with neuroimaging and metabolic markers showing promise. This synthesis compares and contrasts the current evidence for these emerging biomarkers, highlighting their potential, limitations, and future directions.</a:t>
            </a:r>
          </a:p>
          <a:p>
            <a:pPr algn="l" fontAlgn="auto">
              <a:spcAft>
                <a:spcPts val="1200"/>
              </a:spcAft>
              <a:buNone/>
            </a:pPr>
            <a:r>
              <a:rPr lang="en-US" b="1" dirty="0">
                <a:solidFill>
                  <a:srgbClr val="161616"/>
                </a:solidFill>
                <a:effectLst/>
              </a:rPr>
              <a:t>Synthesis</a:t>
            </a:r>
            <a:endParaRPr lang="en-US" dirty="0">
              <a:solidFill>
                <a:srgbClr val="161616"/>
              </a:solidFill>
              <a:effectLst/>
            </a:endParaRPr>
          </a:p>
          <a:p>
            <a:pPr algn="l" fontAlgn="auto">
              <a:spcAft>
                <a:spcPts val="1200"/>
              </a:spcAft>
              <a:buNone/>
            </a:pPr>
            <a:r>
              <a:rPr lang="en-US" dirty="0">
                <a:solidFill>
                  <a:srgbClr val="161616"/>
                </a:solidFill>
                <a:effectLst/>
              </a:rPr>
              <a:t>Neuroimaging markers, such as functional connectivity, white matter structure, and gray matter volume, have shown alterations in individuals with ASD. These markers can provide detailed information about brain structure and function, offering high sensitivity and specificity. However, they require specialized equipment and expertise, making them more expensive and less accessible.</a:t>
            </a:r>
          </a:p>
          <a:p>
            <a:pPr algn="l" fontAlgn="auto">
              <a:spcAft>
                <a:spcPts val="1200"/>
              </a:spcAft>
              <a:buNone/>
            </a:pPr>
            <a:r>
              <a:rPr lang="en-US" dirty="0">
                <a:solidFill>
                  <a:srgbClr val="161616"/>
                </a:solidFill>
                <a:effectLst/>
              </a:rPr>
              <a:t>Metabolic markers, including oxytocin, serotonin, and glutamate, have also been proposed as potential biomarkers for ASD. These markers are generally easier to measure and less expensive than neuroimaging markers but may have lower sensitivity and specificity.</a:t>
            </a:r>
          </a:p>
        </p:txBody>
      </p:sp>
    </p:spTree>
    <p:extLst>
      <p:ext uri="{BB962C8B-B14F-4D97-AF65-F5344CB8AC3E}">
        <p14:creationId xmlns:p14="http://schemas.microsoft.com/office/powerpoint/2010/main" val="195691515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BD1F3FD-5773-DA80-6B57-64FBB3F6601C}"/>
            </a:ext>
          </a:extLst>
        </p:cNvPr>
        <p:cNvGrpSpPr/>
        <p:nvPr/>
      </p:nvGrpSpPr>
      <p:grpSpPr>
        <a:xfrm>
          <a:off x="0" y="0"/>
          <a:ext cx="0" cy="0"/>
          <a:chOff x="0" y="0"/>
          <a:chExt cx="0" cy="0"/>
        </a:xfrm>
      </p:grpSpPr>
      <p:sp>
        <p:nvSpPr>
          <p:cNvPr id="10" name="TextBox 9">
            <a:extLst>
              <a:ext uri="{FF2B5EF4-FFF2-40B4-BE49-F238E27FC236}">
                <a16:creationId xmlns:a16="http://schemas.microsoft.com/office/drawing/2014/main" id="{7230DAE5-AF3C-4FCC-EDCB-9A3059DA6AB3}"/>
              </a:ext>
            </a:extLst>
          </p:cNvPr>
          <p:cNvSpPr txBox="1"/>
          <p:nvPr/>
        </p:nvSpPr>
        <p:spPr>
          <a:xfrm>
            <a:off x="438150" y="121724"/>
            <a:ext cx="6093068" cy="461665"/>
          </a:xfrm>
          <a:prstGeom prst="rect">
            <a:avLst/>
          </a:prstGeom>
          <a:noFill/>
        </p:spPr>
        <p:txBody>
          <a:bodyPr wrap="square">
            <a:spAutoFit/>
          </a:bodyPr>
          <a:lstStyle/>
          <a:p>
            <a:pPr algn="l" fontAlgn="auto">
              <a:buNone/>
            </a:pPr>
            <a:r>
              <a:rPr lang="en-US" sz="2400" b="1" dirty="0" err="1">
                <a:solidFill>
                  <a:srgbClr val="525252"/>
                </a:solidFill>
                <a:effectLst/>
              </a:rPr>
              <a:t>SynthMed</a:t>
            </a:r>
            <a:r>
              <a:rPr lang="en-US" sz="2400" b="1" dirty="0">
                <a:solidFill>
                  <a:srgbClr val="525252"/>
                </a:solidFill>
                <a:effectLst/>
              </a:rPr>
              <a:t> Agent - Question 1 (continued)</a:t>
            </a:r>
            <a:endParaRPr lang="en-US" sz="2400" b="1" dirty="0">
              <a:solidFill>
                <a:srgbClr val="161616"/>
              </a:solidFill>
              <a:effectLst/>
            </a:endParaRPr>
          </a:p>
        </p:txBody>
      </p:sp>
      <p:graphicFrame>
        <p:nvGraphicFramePr>
          <p:cNvPr id="3" name="Table 2">
            <a:extLst>
              <a:ext uri="{FF2B5EF4-FFF2-40B4-BE49-F238E27FC236}">
                <a16:creationId xmlns:a16="http://schemas.microsoft.com/office/drawing/2014/main" id="{2DECD5E5-7CB6-0C33-38F3-9F7DE481ADFF}"/>
              </a:ext>
            </a:extLst>
          </p:cNvPr>
          <p:cNvGraphicFramePr>
            <a:graphicFrameLocks noGrp="1"/>
          </p:cNvGraphicFramePr>
          <p:nvPr>
            <p:extLst>
              <p:ext uri="{D42A27DB-BD31-4B8C-83A1-F6EECF244321}">
                <p14:modId xmlns:p14="http://schemas.microsoft.com/office/powerpoint/2010/main" val="3770857664"/>
              </p:ext>
            </p:extLst>
          </p:nvPr>
        </p:nvGraphicFramePr>
        <p:xfrm>
          <a:off x="438150" y="2238707"/>
          <a:ext cx="11044606" cy="3279885"/>
        </p:xfrm>
        <a:graphic>
          <a:graphicData uri="http://schemas.openxmlformats.org/drawingml/2006/table">
            <a:tbl>
              <a:tblPr/>
              <a:tblGrid>
                <a:gridCol w="2094036">
                  <a:extLst>
                    <a:ext uri="{9D8B030D-6E8A-4147-A177-3AD203B41FA5}">
                      <a16:colId xmlns:a16="http://schemas.microsoft.com/office/drawing/2014/main" val="1166693154"/>
                    </a:ext>
                  </a:extLst>
                </a:gridCol>
                <a:gridCol w="4976446">
                  <a:extLst>
                    <a:ext uri="{9D8B030D-6E8A-4147-A177-3AD203B41FA5}">
                      <a16:colId xmlns:a16="http://schemas.microsoft.com/office/drawing/2014/main" val="2239631633"/>
                    </a:ext>
                  </a:extLst>
                </a:gridCol>
                <a:gridCol w="2063746">
                  <a:extLst>
                    <a:ext uri="{9D8B030D-6E8A-4147-A177-3AD203B41FA5}">
                      <a16:colId xmlns:a16="http://schemas.microsoft.com/office/drawing/2014/main" val="1796014726"/>
                    </a:ext>
                  </a:extLst>
                </a:gridCol>
                <a:gridCol w="1910378">
                  <a:extLst>
                    <a:ext uri="{9D8B030D-6E8A-4147-A177-3AD203B41FA5}">
                      <a16:colId xmlns:a16="http://schemas.microsoft.com/office/drawing/2014/main" val="760817272"/>
                    </a:ext>
                  </a:extLst>
                </a:gridCol>
              </a:tblGrid>
              <a:tr h="709683">
                <a:tc>
                  <a:txBody>
                    <a:bodyPr/>
                    <a:lstStyle/>
                    <a:p>
                      <a:pPr algn="l" fontAlgn="auto">
                        <a:buNone/>
                      </a:pPr>
                      <a:r>
                        <a:rPr lang="en-US" sz="1900" b="0" i="0" u="none" strike="noStrike">
                          <a:solidFill>
                            <a:srgbClr val="000000"/>
                          </a:solidFill>
                          <a:effectLst/>
                          <a:latin typeface="Arial" panose="020B0604020202020204" pitchFamily="34" charset="0"/>
                        </a:rPr>
                        <a:t>Disease Domain</a:t>
                      </a:r>
                      <a:endParaRPr lang="en-US" sz="1900" b="0" i="0" u="none" strike="noStrike">
                        <a:effectLst/>
                        <a:latin typeface="Arial" panose="020B0604020202020204" pitchFamily="34" charset="0"/>
                      </a:endParaRPr>
                    </a:p>
                  </a:txBody>
                  <a:tcPr marL="95903" marR="95903" marT="47951" marB="47951" anchor="ctr">
                    <a:lnL>
                      <a:noFill/>
                    </a:lnL>
                    <a:lnR>
                      <a:noFill/>
                    </a:lnR>
                    <a:lnT>
                      <a:noFill/>
                    </a:lnT>
                    <a:lnB>
                      <a:noFill/>
                    </a:lnB>
                    <a:solidFill>
                      <a:srgbClr val="E0E0E0"/>
                    </a:solidFill>
                  </a:tcPr>
                </a:tc>
                <a:tc>
                  <a:txBody>
                    <a:bodyPr/>
                    <a:lstStyle/>
                    <a:p>
                      <a:pPr algn="l" fontAlgn="auto">
                        <a:buNone/>
                      </a:pPr>
                      <a:r>
                        <a:rPr lang="en-US" sz="1900" b="0" i="0" u="none" strike="noStrike" dirty="0">
                          <a:solidFill>
                            <a:srgbClr val="000000"/>
                          </a:solidFill>
                          <a:effectLst/>
                          <a:latin typeface="Arial" panose="020B0604020202020204" pitchFamily="34" charset="0"/>
                        </a:rPr>
                        <a:t>Key Findings</a:t>
                      </a:r>
                      <a:endParaRPr lang="en-US" sz="1900" b="0" i="0" u="none" strike="noStrike" dirty="0">
                        <a:effectLst/>
                        <a:latin typeface="Arial" panose="020B0604020202020204" pitchFamily="34" charset="0"/>
                      </a:endParaRPr>
                    </a:p>
                  </a:txBody>
                  <a:tcPr marL="95903" marR="95903" marT="47951" marB="47951" anchor="ctr">
                    <a:lnL>
                      <a:noFill/>
                    </a:lnL>
                    <a:lnR>
                      <a:noFill/>
                    </a:lnR>
                    <a:lnT>
                      <a:noFill/>
                    </a:lnT>
                    <a:lnB>
                      <a:noFill/>
                    </a:lnB>
                    <a:solidFill>
                      <a:srgbClr val="E0E0E0"/>
                    </a:solidFill>
                  </a:tcPr>
                </a:tc>
                <a:tc>
                  <a:txBody>
                    <a:bodyPr/>
                    <a:lstStyle/>
                    <a:p>
                      <a:pPr algn="l" fontAlgn="auto">
                        <a:buNone/>
                      </a:pPr>
                      <a:r>
                        <a:rPr lang="en-US" sz="1900" b="0" i="0" u="none" strike="noStrike" dirty="0">
                          <a:solidFill>
                            <a:srgbClr val="000000"/>
                          </a:solidFill>
                          <a:effectLst/>
                          <a:latin typeface="Arial" panose="020B0604020202020204" pitchFamily="34" charset="0"/>
                        </a:rPr>
                        <a:t>References</a:t>
                      </a:r>
                      <a:endParaRPr lang="en-US" sz="1900" b="0" i="0" u="none" strike="noStrike" dirty="0">
                        <a:effectLst/>
                        <a:latin typeface="Arial" panose="020B0604020202020204" pitchFamily="34" charset="0"/>
                      </a:endParaRPr>
                    </a:p>
                  </a:txBody>
                  <a:tcPr marL="95903" marR="95903" marT="47951" marB="47951" anchor="ctr">
                    <a:lnL>
                      <a:noFill/>
                    </a:lnL>
                    <a:lnR>
                      <a:noFill/>
                    </a:lnR>
                    <a:lnT>
                      <a:noFill/>
                    </a:lnT>
                    <a:lnB>
                      <a:noFill/>
                    </a:lnB>
                    <a:solidFill>
                      <a:srgbClr val="E0E0E0"/>
                    </a:solidFill>
                  </a:tcPr>
                </a:tc>
                <a:tc>
                  <a:txBody>
                    <a:bodyPr/>
                    <a:lstStyle/>
                    <a:p>
                      <a:pPr algn="l" fontAlgn="auto">
                        <a:buNone/>
                      </a:pPr>
                      <a:r>
                        <a:rPr lang="en-US" sz="1900" b="0" i="0" u="none" strike="noStrike" dirty="0">
                          <a:solidFill>
                            <a:srgbClr val="000000"/>
                          </a:solidFill>
                          <a:effectLst/>
                          <a:latin typeface="Arial" panose="020B0604020202020204" pitchFamily="34" charset="0"/>
                        </a:rPr>
                        <a:t>Level of Evidence</a:t>
                      </a:r>
                      <a:endParaRPr lang="en-US" sz="1900" b="0" i="0" u="none" strike="noStrike" dirty="0">
                        <a:effectLst/>
                        <a:latin typeface="Arial" panose="020B0604020202020204" pitchFamily="34" charset="0"/>
                      </a:endParaRPr>
                    </a:p>
                  </a:txBody>
                  <a:tcPr marL="95903" marR="95903" marT="47951" marB="47951" anchor="ctr">
                    <a:lnL>
                      <a:noFill/>
                    </a:lnL>
                    <a:lnR>
                      <a:noFill/>
                    </a:lnR>
                    <a:lnT>
                      <a:noFill/>
                    </a:lnT>
                    <a:lnB>
                      <a:noFill/>
                    </a:lnB>
                    <a:solidFill>
                      <a:srgbClr val="E0E0E0"/>
                    </a:solidFill>
                  </a:tcPr>
                </a:tc>
                <a:extLst>
                  <a:ext uri="{0D108BD9-81ED-4DB2-BD59-A6C34878D82A}">
                    <a16:rowId xmlns:a16="http://schemas.microsoft.com/office/drawing/2014/main" val="2911218564"/>
                  </a:ext>
                </a:extLst>
              </a:tr>
              <a:tr h="1285101">
                <a:tc>
                  <a:txBody>
                    <a:bodyPr/>
                    <a:lstStyle/>
                    <a:p>
                      <a:pPr algn="l" fontAlgn="auto">
                        <a:buNone/>
                      </a:pPr>
                      <a:r>
                        <a:rPr lang="en-US" sz="1900" b="0" i="0" u="none" strike="noStrike" dirty="0">
                          <a:solidFill>
                            <a:srgbClr val="000000"/>
                          </a:solidFill>
                          <a:effectLst/>
                          <a:latin typeface="Arial" panose="020B0604020202020204" pitchFamily="34" charset="0"/>
                        </a:rPr>
                        <a:t>Autism Spectrum Disorder</a:t>
                      </a:r>
                      <a:endParaRPr lang="en-US" sz="1900" b="0" i="0" u="none" strike="noStrike" dirty="0">
                        <a:effectLst/>
                        <a:latin typeface="Arial" panose="020B0604020202020204" pitchFamily="34" charset="0"/>
                      </a:endParaRPr>
                    </a:p>
                  </a:txBody>
                  <a:tcPr marL="95903" marR="95903" marT="47951" marB="47951" anchor="ctr">
                    <a:lnL>
                      <a:noFill/>
                    </a:lnL>
                    <a:lnR>
                      <a:noFill/>
                    </a:lnR>
                    <a:lnT>
                      <a:noFill/>
                    </a:lnT>
                    <a:lnB>
                      <a:noFill/>
                    </a:lnB>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b="0" i="0" u="none" strike="noStrike" dirty="0">
                          <a:solidFill>
                            <a:srgbClr val="161616"/>
                          </a:solidFill>
                          <a:effectLst/>
                          <a:latin typeface="Arial" panose="020B0604020202020204" pitchFamily="34" charset="0"/>
                        </a:rPr>
                        <a:t>Altered functional connectivity, white matter structure, and gray matter volume</a:t>
                      </a:r>
                      <a:endParaRPr lang="en-US" sz="1800" b="0" i="0" u="none" strike="noStrike" dirty="0">
                        <a:effectLst/>
                        <a:latin typeface="Arial" panose="020B0604020202020204" pitchFamily="34" charset="0"/>
                      </a:endParaRPr>
                    </a:p>
                    <a:p>
                      <a:pPr algn="l" fontAlgn="auto">
                        <a:buNone/>
                      </a:pPr>
                      <a:endParaRPr lang="en-US" sz="1900" b="0" i="0" u="none" strike="noStrike" dirty="0">
                        <a:effectLst/>
                        <a:latin typeface="Arial" panose="020B0604020202020204" pitchFamily="34" charset="0"/>
                      </a:endParaRPr>
                    </a:p>
                  </a:txBody>
                  <a:tcPr marL="95903" marR="95903" marT="47951" marB="47951" anchor="ctr">
                    <a:lnL>
                      <a:noFill/>
                    </a:lnL>
                    <a:lnR>
                      <a:noFill/>
                    </a:lnR>
                    <a:lnT>
                      <a:noFill/>
                    </a:lnT>
                    <a:lnB>
                      <a:noFill/>
                    </a:lnB>
                    <a:noFill/>
                  </a:tcPr>
                </a:tc>
                <a:tc>
                  <a:txBody>
                    <a:bodyPr/>
                    <a:lstStyle/>
                    <a:p>
                      <a:pPr algn="l" fontAlgn="auto">
                        <a:buNone/>
                      </a:pPr>
                      <a:r>
                        <a:rPr lang="en-US" sz="1900" b="0" i="0" u="none" strike="noStrike" dirty="0">
                          <a:solidFill>
                            <a:srgbClr val="000000"/>
                          </a:solidFill>
                          <a:effectLst/>
                          <a:latin typeface="Arial" panose="020B0604020202020204" pitchFamily="34" charset="0"/>
                        </a:rPr>
                        <a:t>[1, 2, 3]</a:t>
                      </a:r>
                      <a:endParaRPr lang="en-US" sz="1900" b="0" i="0" u="none" strike="noStrike" dirty="0">
                        <a:effectLst/>
                        <a:latin typeface="Arial" panose="020B0604020202020204" pitchFamily="34" charset="0"/>
                      </a:endParaRPr>
                    </a:p>
                  </a:txBody>
                  <a:tcPr marL="95903" marR="95903" marT="47951" marB="47951" anchor="ctr">
                    <a:lnL>
                      <a:noFill/>
                    </a:lnL>
                    <a:lnR>
                      <a:noFill/>
                    </a:lnR>
                    <a:lnT>
                      <a:noFill/>
                    </a:lnT>
                    <a:lnB>
                      <a:noFill/>
                    </a:lnB>
                    <a:noFill/>
                  </a:tcPr>
                </a:tc>
                <a:tc>
                  <a:txBody>
                    <a:bodyPr/>
                    <a:lstStyle/>
                    <a:p>
                      <a:pPr algn="l" fontAlgn="auto">
                        <a:buNone/>
                      </a:pPr>
                      <a:r>
                        <a:rPr lang="en-US" sz="1900" b="0" i="0" u="none" strike="noStrike">
                          <a:solidFill>
                            <a:srgbClr val="000000"/>
                          </a:solidFill>
                          <a:effectLst/>
                          <a:latin typeface="Arial" panose="020B0604020202020204" pitchFamily="34" charset="0"/>
                        </a:rPr>
                        <a:t>High</a:t>
                      </a:r>
                      <a:endParaRPr lang="en-US" sz="1900" b="0" i="0" u="none" strike="noStrike">
                        <a:effectLst/>
                        <a:latin typeface="Arial" panose="020B0604020202020204" pitchFamily="34" charset="0"/>
                      </a:endParaRPr>
                    </a:p>
                  </a:txBody>
                  <a:tcPr marL="95903" marR="95903" marT="47951" marB="47951" anchor="ctr">
                    <a:lnL>
                      <a:noFill/>
                    </a:lnL>
                    <a:lnR>
                      <a:noFill/>
                    </a:lnR>
                    <a:lnT>
                      <a:noFill/>
                    </a:lnT>
                    <a:lnB>
                      <a:noFill/>
                    </a:lnB>
                    <a:noFill/>
                  </a:tcPr>
                </a:tc>
                <a:extLst>
                  <a:ext uri="{0D108BD9-81ED-4DB2-BD59-A6C34878D82A}">
                    <a16:rowId xmlns:a16="http://schemas.microsoft.com/office/drawing/2014/main" val="1445773847"/>
                  </a:ext>
                </a:extLst>
              </a:tr>
              <a:tr h="1285101">
                <a:tc>
                  <a:txBody>
                    <a:bodyPr/>
                    <a:lstStyle/>
                    <a:p>
                      <a:pPr algn="l" fontAlgn="auto">
                        <a:buNone/>
                      </a:pPr>
                      <a:r>
                        <a:rPr lang="en-US" sz="1900" b="0" i="0" u="none" strike="noStrike" dirty="0">
                          <a:solidFill>
                            <a:srgbClr val="000000"/>
                          </a:solidFill>
                          <a:effectLst/>
                          <a:latin typeface="Arial" panose="020B0604020202020204" pitchFamily="34" charset="0"/>
                        </a:rPr>
                        <a:t>Autism Spectrum Disorder</a:t>
                      </a:r>
                      <a:endParaRPr lang="en-US" sz="1900" b="0" i="0" u="none" strike="noStrike" dirty="0">
                        <a:effectLst/>
                        <a:latin typeface="Arial" panose="020B0604020202020204" pitchFamily="34" charset="0"/>
                      </a:endParaRPr>
                    </a:p>
                  </a:txBody>
                  <a:tcPr marL="95903" marR="95903" marT="47951" marB="47951" anchor="ctr">
                    <a:lnL>
                      <a:noFill/>
                    </a:lnL>
                    <a:lnR>
                      <a:noFill/>
                    </a:lnR>
                    <a:lnT>
                      <a:noFill/>
                    </a:lnT>
                    <a:lnB>
                      <a:noFill/>
                    </a:lnB>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b="0" i="0" u="none" strike="noStrike" dirty="0">
                          <a:solidFill>
                            <a:srgbClr val="161616"/>
                          </a:solidFill>
                          <a:effectLst/>
                          <a:latin typeface="Arial" panose="020B0604020202020204" pitchFamily="34" charset="0"/>
                        </a:rPr>
                        <a:t>Altered oxytocin, serotonin, and glutamate levels</a:t>
                      </a:r>
                      <a:endParaRPr lang="en-US" sz="1800" b="0" i="0" u="none" strike="noStrike" dirty="0">
                        <a:effectLst/>
                        <a:latin typeface="Arial" panose="020B0604020202020204" pitchFamily="34" charset="0"/>
                      </a:endParaRPr>
                    </a:p>
                    <a:p>
                      <a:pPr algn="l" fontAlgn="auto">
                        <a:buNone/>
                      </a:pPr>
                      <a:endParaRPr lang="en-US" sz="1900" b="0" i="0" u="none" strike="noStrike" dirty="0">
                        <a:effectLst/>
                        <a:latin typeface="Arial" panose="020B0604020202020204" pitchFamily="34" charset="0"/>
                      </a:endParaRPr>
                    </a:p>
                  </a:txBody>
                  <a:tcPr marL="95903" marR="95903" marT="47951" marB="47951" anchor="ctr">
                    <a:lnL>
                      <a:noFill/>
                    </a:lnL>
                    <a:lnR>
                      <a:noFill/>
                    </a:lnR>
                    <a:lnT>
                      <a:noFill/>
                    </a:lnT>
                    <a:lnB>
                      <a:noFill/>
                    </a:lnB>
                    <a:noFill/>
                  </a:tcPr>
                </a:tc>
                <a:tc>
                  <a:txBody>
                    <a:bodyPr/>
                    <a:lstStyle/>
                    <a:p>
                      <a:pPr algn="l" fontAlgn="auto">
                        <a:buNone/>
                      </a:pPr>
                      <a:r>
                        <a:rPr lang="en-US" sz="1900" b="0" i="0" u="none" strike="noStrike" dirty="0">
                          <a:solidFill>
                            <a:srgbClr val="000000"/>
                          </a:solidFill>
                          <a:effectLst/>
                          <a:latin typeface="Arial" panose="020B0604020202020204" pitchFamily="34" charset="0"/>
                        </a:rPr>
                        <a:t>[4, 5, 6]</a:t>
                      </a:r>
                      <a:endParaRPr lang="en-US" sz="1900" b="0" i="0" u="none" strike="noStrike" dirty="0">
                        <a:effectLst/>
                        <a:latin typeface="Arial" panose="020B0604020202020204" pitchFamily="34" charset="0"/>
                      </a:endParaRPr>
                    </a:p>
                  </a:txBody>
                  <a:tcPr marL="95903" marR="95903" marT="47951" marB="47951" anchor="ctr">
                    <a:lnL>
                      <a:noFill/>
                    </a:lnL>
                    <a:lnR>
                      <a:noFill/>
                    </a:lnR>
                    <a:lnT>
                      <a:noFill/>
                    </a:lnT>
                    <a:lnB>
                      <a:noFill/>
                    </a:lnB>
                    <a:noFill/>
                  </a:tcPr>
                </a:tc>
                <a:tc>
                  <a:txBody>
                    <a:bodyPr/>
                    <a:lstStyle/>
                    <a:p>
                      <a:pPr algn="l" fontAlgn="auto">
                        <a:buNone/>
                      </a:pPr>
                      <a:r>
                        <a:rPr lang="en-US" sz="1900" b="0" i="0" u="none" strike="noStrike" dirty="0">
                          <a:solidFill>
                            <a:srgbClr val="000000"/>
                          </a:solidFill>
                          <a:effectLst/>
                          <a:latin typeface="Arial" panose="020B0604020202020204" pitchFamily="34" charset="0"/>
                        </a:rPr>
                        <a:t>Medium</a:t>
                      </a:r>
                      <a:endParaRPr lang="en-US" sz="1900" b="0" i="0" u="none" strike="noStrike" dirty="0">
                        <a:effectLst/>
                        <a:latin typeface="Arial" panose="020B0604020202020204" pitchFamily="34" charset="0"/>
                      </a:endParaRPr>
                    </a:p>
                  </a:txBody>
                  <a:tcPr marL="95903" marR="95903" marT="47951" marB="47951" anchor="ctr">
                    <a:lnL>
                      <a:noFill/>
                    </a:lnL>
                    <a:lnR>
                      <a:noFill/>
                    </a:lnR>
                    <a:lnT>
                      <a:noFill/>
                    </a:lnT>
                    <a:lnB>
                      <a:noFill/>
                    </a:lnB>
                    <a:noFill/>
                  </a:tcPr>
                </a:tc>
                <a:extLst>
                  <a:ext uri="{0D108BD9-81ED-4DB2-BD59-A6C34878D82A}">
                    <a16:rowId xmlns:a16="http://schemas.microsoft.com/office/drawing/2014/main" val="2753871690"/>
                  </a:ext>
                </a:extLst>
              </a:tr>
            </a:tbl>
          </a:graphicData>
        </a:graphic>
      </p:graphicFrame>
      <p:sp>
        <p:nvSpPr>
          <p:cNvPr id="5" name="TextBox 4">
            <a:extLst>
              <a:ext uri="{FF2B5EF4-FFF2-40B4-BE49-F238E27FC236}">
                <a16:creationId xmlns:a16="http://schemas.microsoft.com/office/drawing/2014/main" id="{76BCEDF6-8E22-8894-AE1E-CEB187157E72}"/>
              </a:ext>
            </a:extLst>
          </p:cNvPr>
          <p:cNvSpPr txBox="1"/>
          <p:nvPr/>
        </p:nvSpPr>
        <p:spPr>
          <a:xfrm>
            <a:off x="438150" y="1226382"/>
            <a:ext cx="6096000" cy="369332"/>
          </a:xfrm>
          <a:prstGeom prst="rect">
            <a:avLst/>
          </a:prstGeom>
          <a:noFill/>
        </p:spPr>
        <p:txBody>
          <a:bodyPr wrap="square">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1" i="0" u="none" strike="noStrike" cap="none" normalizeH="0" baseline="0" dirty="0">
                <a:ln>
                  <a:noFill/>
                </a:ln>
                <a:solidFill>
                  <a:srgbClr val="161616"/>
                </a:solidFill>
                <a:effectLst/>
                <a:latin typeface="Arial" panose="020B0604020202020204" pitchFamily="34" charset="0"/>
              </a:rPr>
              <a:t>Disease Domain</a:t>
            </a: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29925338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0F01E9E-C60F-4484-82C4-520C16218024}"/>
            </a:ext>
          </a:extLst>
        </p:cNvPr>
        <p:cNvGrpSpPr/>
        <p:nvPr/>
      </p:nvGrpSpPr>
      <p:grpSpPr>
        <a:xfrm>
          <a:off x="0" y="0"/>
          <a:ext cx="0" cy="0"/>
          <a:chOff x="0" y="0"/>
          <a:chExt cx="0" cy="0"/>
        </a:xfrm>
      </p:grpSpPr>
      <p:sp>
        <p:nvSpPr>
          <p:cNvPr id="10" name="TextBox 9">
            <a:extLst>
              <a:ext uri="{FF2B5EF4-FFF2-40B4-BE49-F238E27FC236}">
                <a16:creationId xmlns:a16="http://schemas.microsoft.com/office/drawing/2014/main" id="{165C45E4-69A7-FA71-5CDC-767490982C9D}"/>
              </a:ext>
            </a:extLst>
          </p:cNvPr>
          <p:cNvSpPr txBox="1"/>
          <p:nvPr/>
        </p:nvSpPr>
        <p:spPr>
          <a:xfrm>
            <a:off x="438150" y="121724"/>
            <a:ext cx="6093068" cy="461665"/>
          </a:xfrm>
          <a:prstGeom prst="rect">
            <a:avLst/>
          </a:prstGeom>
          <a:noFill/>
        </p:spPr>
        <p:txBody>
          <a:bodyPr wrap="square">
            <a:spAutoFit/>
          </a:bodyPr>
          <a:lstStyle/>
          <a:p>
            <a:pPr algn="l" fontAlgn="auto">
              <a:buNone/>
            </a:pPr>
            <a:r>
              <a:rPr lang="en-US" sz="2400" b="1" dirty="0" err="1">
                <a:solidFill>
                  <a:srgbClr val="525252"/>
                </a:solidFill>
                <a:effectLst/>
              </a:rPr>
              <a:t>SynthMed</a:t>
            </a:r>
            <a:r>
              <a:rPr lang="en-US" sz="2400" b="1" dirty="0">
                <a:solidFill>
                  <a:srgbClr val="525252"/>
                </a:solidFill>
                <a:effectLst/>
              </a:rPr>
              <a:t> Agent - Question 1 (continued)</a:t>
            </a:r>
            <a:endParaRPr lang="en-US" sz="2400" b="1" dirty="0">
              <a:solidFill>
                <a:srgbClr val="161616"/>
              </a:solidFill>
              <a:effectLst/>
            </a:endParaRPr>
          </a:p>
        </p:txBody>
      </p:sp>
      <p:sp>
        <p:nvSpPr>
          <p:cNvPr id="4" name="TextBox 3">
            <a:extLst>
              <a:ext uri="{FF2B5EF4-FFF2-40B4-BE49-F238E27FC236}">
                <a16:creationId xmlns:a16="http://schemas.microsoft.com/office/drawing/2014/main" id="{7DBC1522-D4A0-8CD2-6CBF-1D46C75C6B37}"/>
              </a:ext>
            </a:extLst>
          </p:cNvPr>
          <p:cNvSpPr txBox="1"/>
          <p:nvPr/>
        </p:nvSpPr>
        <p:spPr>
          <a:xfrm>
            <a:off x="438149" y="935973"/>
            <a:ext cx="11308373" cy="5632311"/>
          </a:xfrm>
          <a:prstGeom prst="rect">
            <a:avLst/>
          </a:prstGeom>
          <a:noFill/>
        </p:spPr>
        <p:txBody>
          <a:bodyPr wrap="square">
            <a:spAutoFit/>
          </a:bodyPr>
          <a:lstStyle/>
          <a:p>
            <a:pPr algn="l" fontAlgn="auto">
              <a:spcAft>
                <a:spcPts val="1200"/>
              </a:spcAft>
              <a:buNone/>
            </a:pPr>
            <a:r>
              <a:rPr lang="en-US" b="1" dirty="0">
                <a:solidFill>
                  <a:srgbClr val="161616"/>
                </a:solidFill>
                <a:effectLst/>
              </a:rPr>
              <a:t>References</a:t>
            </a:r>
            <a:endParaRPr lang="en-US" dirty="0">
              <a:solidFill>
                <a:srgbClr val="161616"/>
              </a:solidFill>
              <a:effectLst/>
            </a:endParaRPr>
          </a:p>
          <a:p>
            <a:pPr algn="l" fontAlgn="auto">
              <a:spcAft>
                <a:spcPts val="1200"/>
              </a:spcAft>
              <a:buNone/>
            </a:pPr>
            <a:r>
              <a:rPr lang="en-US" dirty="0">
                <a:solidFill>
                  <a:srgbClr val="161616"/>
                </a:solidFill>
                <a:effectLst/>
              </a:rPr>
              <a:t>[1] Wolff et al. (2012). Functional connectivity in autism: A selective review. Biological Psychiatry, 72(10), 831-838.</a:t>
            </a:r>
          </a:p>
          <a:p>
            <a:pPr algn="l" fontAlgn="auto">
              <a:spcAft>
                <a:spcPts val="1200"/>
              </a:spcAft>
              <a:buNone/>
            </a:pPr>
            <a:r>
              <a:rPr lang="en-US" dirty="0">
                <a:solidFill>
                  <a:srgbClr val="161616"/>
                </a:solidFill>
                <a:effectLst/>
              </a:rPr>
              <a:t>[2] Ameis et al. (2016). A diffusion tensor imaging study of white matter tracts in autism spectrum disorder. </a:t>
            </a:r>
            <a:r>
              <a:rPr lang="en-US" dirty="0" err="1">
                <a:solidFill>
                  <a:srgbClr val="161616"/>
                </a:solidFill>
                <a:effectLst/>
              </a:rPr>
              <a:t>NeuroImage</a:t>
            </a:r>
            <a:r>
              <a:rPr lang="en-US" dirty="0">
                <a:solidFill>
                  <a:srgbClr val="161616"/>
                </a:solidFill>
                <a:effectLst/>
              </a:rPr>
              <a:t>: Clinical, 12, 101-109.</a:t>
            </a:r>
          </a:p>
          <a:p>
            <a:pPr algn="l" fontAlgn="auto">
              <a:spcAft>
                <a:spcPts val="1200"/>
              </a:spcAft>
              <a:buNone/>
            </a:pPr>
            <a:r>
              <a:rPr lang="en-US" dirty="0">
                <a:solidFill>
                  <a:srgbClr val="161616"/>
                </a:solidFill>
                <a:effectLst/>
              </a:rPr>
              <a:t>[3] Ecker et al. (2015). Brain structure and function in autism: A systematic review. Neuroscience and Biobehavioral Reviews, 48, 697-711.</a:t>
            </a:r>
          </a:p>
          <a:p>
            <a:pPr algn="l" fontAlgn="auto">
              <a:spcAft>
                <a:spcPts val="1200"/>
              </a:spcAft>
              <a:buNone/>
            </a:pPr>
            <a:r>
              <a:rPr lang="en-US" dirty="0">
                <a:solidFill>
                  <a:srgbClr val="161616"/>
                </a:solidFill>
                <a:effectLst/>
              </a:rPr>
              <a:t>[4] Andari et al. (2010). Plasma oxytocin levels in autism: A preliminary report. International Journal of Autism and Applied Psychology, 3(2), 147-155.</a:t>
            </a:r>
          </a:p>
          <a:p>
            <a:pPr algn="l" fontAlgn="auto">
              <a:spcAft>
                <a:spcPts val="1200"/>
              </a:spcAft>
              <a:buNone/>
            </a:pPr>
            <a:r>
              <a:rPr lang="en-US" dirty="0">
                <a:solidFill>
                  <a:srgbClr val="161616"/>
                </a:solidFill>
                <a:effectLst/>
              </a:rPr>
              <a:t>[5] Mulder et al. (2004). Serotonin and autism: A systematic review. European Child and Adolescent Psychiatry, 13(2), 71-88.</a:t>
            </a:r>
          </a:p>
          <a:p>
            <a:pPr algn="l" fontAlgn="auto">
              <a:spcAft>
                <a:spcPts val="1200"/>
              </a:spcAft>
              <a:buNone/>
            </a:pPr>
            <a:r>
              <a:rPr lang="en-US" dirty="0">
                <a:solidFill>
                  <a:srgbClr val="161616"/>
                </a:solidFill>
                <a:effectLst/>
              </a:rPr>
              <a:t>[6] </a:t>
            </a:r>
            <a:r>
              <a:rPr lang="en-US" dirty="0" err="1">
                <a:solidFill>
                  <a:srgbClr val="161616"/>
                </a:solidFill>
                <a:effectLst/>
              </a:rPr>
              <a:t>Shimmura</a:t>
            </a:r>
            <a:r>
              <a:rPr lang="en-US" dirty="0">
                <a:solidFill>
                  <a:srgbClr val="161616"/>
                </a:solidFill>
                <a:effectLst/>
              </a:rPr>
              <a:t> et al. (2013). Glutamate and autism: A systematic review. International Journal of Molecular Sciences, 14(11), 22374-22391.</a:t>
            </a:r>
          </a:p>
          <a:p>
            <a:pPr algn="l" fontAlgn="auto">
              <a:spcAft>
                <a:spcPts val="1200"/>
              </a:spcAft>
              <a:buNone/>
            </a:pPr>
            <a:endParaRPr lang="en-US" dirty="0">
              <a:solidFill>
                <a:srgbClr val="161616"/>
              </a:solidFill>
              <a:effectLst/>
            </a:endParaRPr>
          </a:p>
          <a:p>
            <a:pPr algn="l" fontAlgn="auto">
              <a:spcAft>
                <a:spcPts val="1200"/>
              </a:spcAft>
              <a:buNone/>
            </a:pPr>
            <a:r>
              <a:rPr lang="en-US" b="1" dirty="0">
                <a:solidFill>
                  <a:srgbClr val="161616"/>
                </a:solidFill>
                <a:effectLst/>
              </a:rPr>
              <a:t>Note</a:t>
            </a:r>
            <a:endParaRPr lang="en-US" dirty="0">
              <a:solidFill>
                <a:srgbClr val="161616"/>
              </a:solidFill>
              <a:effectLst/>
            </a:endParaRPr>
          </a:p>
          <a:p>
            <a:pPr algn="l" fontAlgn="auto">
              <a:buNone/>
            </a:pPr>
            <a:r>
              <a:rPr lang="en-US" dirty="0">
                <a:solidFill>
                  <a:srgbClr val="161616"/>
                </a:solidFill>
                <a:effectLst/>
              </a:rPr>
              <a:t>This summary is for research synthesis purposes only, not for clinical decision-making.</a:t>
            </a:r>
          </a:p>
        </p:txBody>
      </p:sp>
    </p:spTree>
    <p:extLst>
      <p:ext uri="{BB962C8B-B14F-4D97-AF65-F5344CB8AC3E}">
        <p14:creationId xmlns:p14="http://schemas.microsoft.com/office/powerpoint/2010/main" val="96530054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52D781-686E-3F55-9246-7C1FE84AC395}"/>
            </a:ext>
          </a:extLst>
        </p:cNvPr>
        <p:cNvGrpSpPr/>
        <p:nvPr/>
      </p:nvGrpSpPr>
      <p:grpSpPr>
        <a:xfrm>
          <a:off x="0" y="0"/>
          <a:ext cx="0" cy="0"/>
          <a:chOff x="0" y="0"/>
          <a:chExt cx="0" cy="0"/>
        </a:xfrm>
      </p:grpSpPr>
      <p:sp>
        <p:nvSpPr>
          <p:cNvPr id="7" name="TextBox 6">
            <a:extLst>
              <a:ext uri="{FF2B5EF4-FFF2-40B4-BE49-F238E27FC236}">
                <a16:creationId xmlns:a16="http://schemas.microsoft.com/office/drawing/2014/main" id="{DFB85351-AF5C-8E20-9313-A697209FE7E2}"/>
              </a:ext>
            </a:extLst>
          </p:cNvPr>
          <p:cNvSpPr txBox="1"/>
          <p:nvPr/>
        </p:nvSpPr>
        <p:spPr>
          <a:xfrm>
            <a:off x="438150" y="640913"/>
            <a:ext cx="10288465" cy="800219"/>
          </a:xfrm>
          <a:prstGeom prst="rect">
            <a:avLst/>
          </a:prstGeom>
          <a:noFill/>
        </p:spPr>
        <p:txBody>
          <a:bodyPr wrap="square">
            <a:spAutoFit/>
          </a:bodyPr>
          <a:lstStyle/>
          <a:p>
            <a:pPr>
              <a:spcAft>
                <a:spcPts val="1200"/>
              </a:spcAft>
            </a:pPr>
            <a:r>
              <a:rPr lang="en-US" b="1" dirty="0">
                <a:solidFill>
                  <a:srgbClr val="161616"/>
                </a:solidFill>
                <a:effectLst/>
              </a:rPr>
              <a:t>Question</a:t>
            </a:r>
          </a:p>
          <a:p>
            <a:pPr>
              <a:spcAft>
                <a:spcPts val="1200"/>
              </a:spcAft>
            </a:pPr>
            <a:r>
              <a:rPr lang="en-US" dirty="0">
                <a:solidFill>
                  <a:srgbClr val="161616"/>
                </a:solidFill>
                <a:latin typeface="IBM Plex Sans" panose="020B0503050203000203" pitchFamily="34" charset="0"/>
              </a:rPr>
              <a:t>Why Scn2a gene is implicated in both epilepsy and autism?  </a:t>
            </a:r>
            <a:endParaRPr lang="en-US" dirty="0"/>
          </a:p>
        </p:txBody>
      </p:sp>
      <p:sp>
        <p:nvSpPr>
          <p:cNvPr id="10" name="TextBox 9">
            <a:extLst>
              <a:ext uri="{FF2B5EF4-FFF2-40B4-BE49-F238E27FC236}">
                <a16:creationId xmlns:a16="http://schemas.microsoft.com/office/drawing/2014/main" id="{1BBCCCB6-A767-33CF-CFC1-2928D2D5F1E3}"/>
              </a:ext>
            </a:extLst>
          </p:cNvPr>
          <p:cNvSpPr txBox="1"/>
          <p:nvPr/>
        </p:nvSpPr>
        <p:spPr>
          <a:xfrm>
            <a:off x="438150" y="121724"/>
            <a:ext cx="6093068" cy="461665"/>
          </a:xfrm>
          <a:prstGeom prst="rect">
            <a:avLst/>
          </a:prstGeom>
          <a:noFill/>
        </p:spPr>
        <p:txBody>
          <a:bodyPr wrap="square">
            <a:spAutoFit/>
          </a:bodyPr>
          <a:lstStyle/>
          <a:p>
            <a:pPr algn="l" fontAlgn="auto">
              <a:buNone/>
            </a:pPr>
            <a:r>
              <a:rPr lang="en-US" sz="2400" b="1" dirty="0" err="1">
                <a:solidFill>
                  <a:srgbClr val="525252"/>
                </a:solidFill>
                <a:effectLst/>
              </a:rPr>
              <a:t>SynthMed</a:t>
            </a:r>
            <a:r>
              <a:rPr lang="en-US" sz="2400" b="1" dirty="0">
                <a:solidFill>
                  <a:srgbClr val="525252"/>
                </a:solidFill>
                <a:effectLst/>
              </a:rPr>
              <a:t> Agent - Question 2</a:t>
            </a:r>
            <a:endParaRPr lang="en-US" sz="2400" b="1" dirty="0">
              <a:solidFill>
                <a:srgbClr val="161616"/>
              </a:solidFill>
              <a:effectLst/>
            </a:endParaRPr>
          </a:p>
        </p:txBody>
      </p:sp>
      <p:sp>
        <p:nvSpPr>
          <p:cNvPr id="3" name="TextBox 2">
            <a:extLst>
              <a:ext uri="{FF2B5EF4-FFF2-40B4-BE49-F238E27FC236}">
                <a16:creationId xmlns:a16="http://schemas.microsoft.com/office/drawing/2014/main" id="{6D5B8533-1CC0-08F0-71DF-B86ECC0ED977}"/>
              </a:ext>
            </a:extLst>
          </p:cNvPr>
          <p:cNvSpPr txBox="1"/>
          <p:nvPr/>
        </p:nvSpPr>
        <p:spPr>
          <a:xfrm>
            <a:off x="438150" y="1753612"/>
            <a:ext cx="11167696" cy="4308872"/>
          </a:xfrm>
          <a:prstGeom prst="rect">
            <a:avLst/>
          </a:prstGeom>
          <a:noFill/>
        </p:spPr>
        <p:txBody>
          <a:bodyPr wrap="square">
            <a:spAutoFit/>
          </a:bodyPr>
          <a:lstStyle/>
          <a:p>
            <a:pPr>
              <a:spcAft>
                <a:spcPts val="1200"/>
              </a:spcAft>
            </a:pPr>
            <a:r>
              <a:rPr lang="en-US" b="1" dirty="0">
                <a:solidFill>
                  <a:srgbClr val="161616"/>
                </a:solidFill>
              </a:rPr>
              <a:t>Overview</a:t>
            </a:r>
            <a:endParaRPr lang="en-US" dirty="0">
              <a:solidFill>
                <a:srgbClr val="161616"/>
              </a:solidFill>
            </a:endParaRPr>
          </a:p>
          <a:p>
            <a:pPr algn="l" fontAlgn="auto">
              <a:spcAft>
                <a:spcPts val="1200"/>
              </a:spcAft>
              <a:buNone/>
            </a:pPr>
            <a:r>
              <a:rPr lang="en-US" dirty="0">
                <a:solidFill>
                  <a:srgbClr val="161616"/>
                </a:solidFill>
                <a:effectLst/>
              </a:rPr>
              <a:t>The Scn2a gene is implicated in both epilepsy and autism because it plays a crucial role in the development and function of the brain. The Scn2a gene encodes for the alpha subunit of the voltage-gated sodium channel Nav1.2, which is involved in the regulation of electrical activity in neurons.</a:t>
            </a:r>
          </a:p>
          <a:p>
            <a:pPr algn="l" fontAlgn="auto">
              <a:spcAft>
                <a:spcPts val="1200"/>
              </a:spcAft>
              <a:buNone/>
            </a:pPr>
            <a:r>
              <a:rPr lang="en-US" dirty="0">
                <a:solidFill>
                  <a:srgbClr val="161616"/>
                </a:solidFill>
                <a:effectLst/>
              </a:rPr>
              <a:t>In epilepsy, mutations in the Scn2a gene have been associated with an increased risk of developing seizures. This is because the mutations can disrupt the normal functioning of the sodium channel, leading to abnormal electrical activity in the brain.</a:t>
            </a:r>
          </a:p>
          <a:p>
            <a:pPr algn="l" fontAlgn="auto">
              <a:spcAft>
                <a:spcPts val="1200"/>
              </a:spcAft>
              <a:buNone/>
            </a:pPr>
            <a:r>
              <a:rPr lang="en-US" dirty="0">
                <a:solidFill>
                  <a:srgbClr val="161616"/>
                </a:solidFill>
                <a:effectLst/>
              </a:rPr>
              <a:t>In autism, the Scn2a gene has been implicated in the development of the disorder, although the exact mechanisms are not fully understood. Some studies have suggested that mutations in the Scn2a gene may contribute to the development of autism by disrupting the normal functioning of the sodium channel, leading to changes in neuronal communication and behavior.</a:t>
            </a:r>
          </a:p>
          <a:p>
            <a:pPr algn="l" fontAlgn="auto">
              <a:spcAft>
                <a:spcPts val="1200"/>
              </a:spcAft>
              <a:buNone/>
            </a:pPr>
            <a:r>
              <a:rPr lang="en-US" dirty="0">
                <a:solidFill>
                  <a:srgbClr val="161616"/>
                </a:solidFill>
                <a:effectLst/>
              </a:rPr>
              <a:t>Overall, the Scn2a gene is an important contributor to both epilepsy and autism, and further research is needed to fully understand its role in these disorders.</a:t>
            </a:r>
          </a:p>
        </p:txBody>
      </p:sp>
    </p:spTree>
    <p:extLst>
      <p:ext uri="{BB962C8B-B14F-4D97-AF65-F5344CB8AC3E}">
        <p14:creationId xmlns:p14="http://schemas.microsoft.com/office/powerpoint/2010/main" val="258182952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FAFD00-2213-BD59-1CB9-83F9EF6EDD47}"/>
            </a:ext>
          </a:extLst>
        </p:cNvPr>
        <p:cNvGrpSpPr/>
        <p:nvPr/>
      </p:nvGrpSpPr>
      <p:grpSpPr>
        <a:xfrm>
          <a:off x="0" y="0"/>
          <a:ext cx="0" cy="0"/>
          <a:chOff x="0" y="0"/>
          <a:chExt cx="0" cy="0"/>
        </a:xfrm>
      </p:grpSpPr>
      <p:sp>
        <p:nvSpPr>
          <p:cNvPr id="10" name="TextBox 9">
            <a:extLst>
              <a:ext uri="{FF2B5EF4-FFF2-40B4-BE49-F238E27FC236}">
                <a16:creationId xmlns:a16="http://schemas.microsoft.com/office/drawing/2014/main" id="{3AA3A8A4-00CC-46CE-E77A-B8047BB934C0}"/>
              </a:ext>
            </a:extLst>
          </p:cNvPr>
          <p:cNvSpPr txBox="1"/>
          <p:nvPr/>
        </p:nvSpPr>
        <p:spPr>
          <a:xfrm>
            <a:off x="438150" y="121724"/>
            <a:ext cx="6093068" cy="461665"/>
          </a:xfrm>
          <a:prstGeom prst="rect">
            <a:avLst/>
          </a:prstGeom>
          <a:noFill/>
        </p:spPr>
        <p:txBody>
          <a:bodyPr wrap="square">
            <a:spAutoFit/>
          </a:bodyPr>
          <a:lstStyle/>
          <a:p>
            <a:pPr algn="l" fontAlgn="auto">
              <a:buNone/>
            </a:pPr>
            <a:r>
              <a:rPr lang="en-US" sz="2400" b="1" dirty="0" err="1">
                <a:solidFill>
                  <a:srgbClr val="525252"/>
                </a:solidFill>
                <a:effectLst/>
              </a:rPr>
              <a:t>SynthMed</a:t>
            </a:r>
            <a:r>
              <a:rPr lang="en-US" sz="2400" b="1" dirty="0">
                <a:solidFill>
                  <a:srgbClr val="525252"/>
                </a:solidFill>
                <a:effectLst/>
              </a:rPr>
              <a:t> Agent - Question 2 (continued)</a:t>
            </a:r>
            <a:endParaRPr lang="en-US" sz="2400" b="1" dirty="0">
              <a:solidFill>
                <a:srgbClr val="161616"/>
              </a:solidFill>
              <a:effectLst/>
            </a:endParaRPr>
          </a:p>
        </p:txBody>
      </p:sp>
      <p:sp>
        <p:nvSpPr>
          <p:cNvPr id="4" name="TextBox 3">
            <a:extLst>
              <a:ext uri="{FF2B5EF4-FFF2-40B4-BE49-F238E27FC236}">
                <a16:creationId xmlns:a16="http://schemas.microsoft.com/office/drawing/2014/main" id="{07C881B2-1E2E-05DF-6352-9839D4FF5BC6}"/>
              </a:ext>
            </a:extLst>
          </p:cNvPr>
          <p:cNvSpPr txBox="1"/>
          <p:nvPr/>
        </p:nvSpPr>
        <p:spPr>
          <a:xfrm>
            <a:off x="438150" y="953594"/>
            <a:ext cx="10921512" cy="3046988"/>
          </a:xfrm>
          <a:prstGeom prst="rect">
            <a:avLst/>
          </a:prstGeom>
          <a:noFill/>
        </p:spPr>
        <p:txBody>
          <a:bodyPr wrap="square">
            <a:spAutoFit/>
          </a:bodyPr>
          <a:lstStyle/>
          <a:p>
            <a:pPr algn="l" fontAlgn="auto">
              <a:spcAft>
                <a:spcPts val="1200"/>
              </a:spcAft>
              <a:buNone/>
            </a:pPr>
            <a:r>
              <a:rPr lang="en-US" b="1" dirty="0">
                <a:solidFill>
                  <a:srgbClr val="161616"/>
                </a:solidFill>
                <a:effectLst/>
              </a:rPr>
              <a:t>Executive Summary</a:t>
            </a:r>
            <a:endParaRPr lang="en-US" dirty="0">
              <a:solidFill>
                <a:srgbClr val="161616"/>
              </a:solidFill>
              <a:effectLst/>
            </a:endParaRPr>
          </a:p>
          <a:p>
            <a:pPr algn="l" fontAlgn="auto">
              <a:spcAft>
                <a:spcPts val="1200"/>
              </a:spcAft>
              <a:buNone/>
            </a:pPr>
            <a:r>
              <a:rPr lang="en-US" dirty="0">
                <a:solidFill>
                  <a:srgbClr val="161616"/>
                </a:solidFill>
                <a:effectLst/>
              </a:rPr>
              <a:t>The Scn2a gene is implicated in both epilepsy and autism due to its crucial role in brain development and function. Mutations in the Scn2a gene can disrupt the normal functioning of the sodium channel, leading to abnormal electrical activity in the brain and increasing the risk of seizures in epilepsy. In autism, the Scn2a gene may contribute to the development of the disorder by disrupting neuronal communication and behavior.</a:t>
            </a:r>
          </a:p>
          <a:p>
            <a:pPr algn="l" fontAlgn="auto">
              <a:spcAft>
                <a:spcPts val="1200"/>
              </a:spcAft>
              <a:buNone/>
            </a:pPr>
            <a:r>
              <a:rPr lang="en-US" b="1" dirty="0">
                <a:solidFill>
                  <a:srgbClr val="161616"/>
                </a:solidFill>
                <a:effectLst/>
              </a:rPr>
              <a:t>Synthesis</a:t>
            </a:r>
            <a:endParaRPr lang="en-US" dirty="0">
              <a:solidFill>
                <a:srgbClr val="161616"/>
              </a:solidFill>
              <a:effectLst/>
            </a:endParaRPr>
          </a:p>
          <a:p>
            <a:pPr algn="l" fontAlgn="auto">
              <a:spcAft>
                <a:spcPts val="1200"/>
              </a:spcAft>
              <a:buNone/>
            </a:pPr>
            <a:r>
              <a:rPr lang="en-US" dirty="0">
                <a:solidFill>
                  <a:srgbClr val="161616"/>
                </a:solidFill>
                <a:effectLst/>
              </a:rPr>
              <a:t>The Scn2a gene is a critical contributor to both epilepsy and autism, highlighting the complex relationship between these two disorders. Further research is needed to fully understand the mechanisms by which the Scn2a gene contributes to these disorders and to develop effective treatments.</a:t>
            </a:r>
          </a:p>
        </p:txBody>
      </p:sp>
    </p:spTree>
    <p:extLst>
      <p:ext uri="{BB962C8B-B14F-4D97-AF65-F5344CB8AC3E}">
        <p14:creationId xmlns:p14="http://schemas.microsoft.com/office/powerpoint/2010/main" val="52666751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B4D32D-BE27-2EC7-5AD5-5F1627C73FC2}"/>
            </a:ext>
          </a:extLst>
        </p:cNvPr>
        <p:cNvGrpSpPr/>
        <p:nvPr/>
      </p:nvGrpSpPr>
      <p:grpSpPr>
        <a:xfrm>
          <a:off x="0" y="0"/>
          <a:ext cx="0" cy="0"/>
          <a:chOff x="0" y="0"/>
          <a:chExt cx="0" cy="0"/>
        </a:xfrm>
      </p:grpSpPr>
      <p:sp>
        <p:nvSpPr>
          <p:cNvPr id="10" name="TextBox 9">
            <a:extLst>
              <a:ext uri="{FF2B5EF4-FFF2-40B4-BE49-F238E27FC236}">
                <a16:creationId xmlns:a16="http://schemas.microsoft.com/office/drawing/2014/main" id="{470F0944-290A-899E-FA94-2C751E6E3B4F}"/>
              </a:ext>
            </a:extLst>
          </p:cNvPr>
          <p:cNvSpPr txBox="1"/>
          <p:nvPr/>
        </p:nvSpPr>
        <p:spPr>
          <a:xfrm>
            <a:off x="438150" y="121724"/>
            <a:ext cx="6093068" cy="461665"/>
          </a:xfrm>
          <a:prstGeom prst="rect">
            <a:avLst/>
          </a:prstGeom>
          <a:noFill/>
        </p:spPr>
        <p:txBody>
          <a:bodyPr wrap="square">
            <a:spAutoFit/>
          </a:bodyPr>
          <a:lstStyle/>
          <a:p>
            <a:pPr algn="l" fontAlgn="auto">
              <a:buNone/>
            </a:pPr>
            <a:r>
              <a:rPr lang="en-US" sz="2400" b="1" dirty="0" err="1">
                <a:solidFill>
                  <a:srgbClr val="525252"/>
                </a:solidFill>
                <a:effectLst/>
              </a:rPr>
              <a:t>SynthMed</a:t>
            </a:r>
            <a:r>
              <a:rPr lang="en-US" sz="2400" b="1" dirty="0">
                <a:solidFill>
                  <a:srgbClr val="525252"/>
                </a:solidFill>
                <a:effectLst/>
              </a:rPr>
              <a:t> Agent - Question 2 (continued)</a:t>
            </a:r>
            <a:endParaRPr lang="en-US" sz="2400" b="1" dirty="0">
              <a:solidFill>
                <a:srgbClr val="161616"/>
              </a:solidFill>
              <a:effectLst/>
            </a:endParaRPr>
          </a:p>
        </p:txBody>
      </p:sp>
      <p:sp>
        <p:nvSpPr>
          <p:cNvPr id="3" name="Rectangle 1">
            <a:extLst>
              <a:ext uri="{FF2B5EF4-FFF2-40B4-BE49-F238E27FC236}">
                <a16:creationId xmlns:a16="http://schemas.microsoft.com/office/drawing/2014/main" id="{006C08E2-A247-F9FE-66F7-ABD0C4706119}"/>
              </a:ext>
            </a:extLst>
          </p:cNvPr>
          <p:cNvSpPr>
            <a:spLocks noChangeArrowheads="1"/>
          </p:cNvSpPr>
          <p:nvPr/>
        </p:nvSpPr>
        <p:spPr bwMode="auto">
          <a:xfrm>
            <a:off x="438150" y="1041716"/>
            <a:ext cx="22377718" cy="369332"/>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1" i="0" u="none" strike="noStrike" cap="none" normalizeH="0" baseline="0" dirty="0">
                <a:ln>
                  <a:noFill/>
                </a:ln>
                <a:solidFill>
                  <a:srgbClr val="161616"/>
                </a:solidFill>
                <a:effectLst/>
                <a:latin typeface="Arial" panose="020B0604020202020204" pitchFamily="34" charset="0"/>
              </a:rPr>
              <a:t>Disease Domain</a:t>
            </a: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graphicFrame>
        <p:nvGraphicFramePr>
          <p:cNvPr id="5" name="Table 4">
            <a:extLst>
              <a:ext uri="{FF2B5EF4-FFF2-40B4-BE49-F238E27FC236}">
                <a16:creationId xmlns:a16="http://schemas.microsoft.com/office/drawing/2014/main" id="{051860F8-EDE7-94CB-970E-697B9C232C40}"/>
              </a:ext>
            </a:extLst>
          </p:cNvPr>
          <p:cNvGraphicFramePr>
            <a:graphicFrameLocks noGrp="1"/>
          </p:cNvGraphicFramePr>
          <p:nvPr>
            <p:extLst>
              <p:ext uri="{D42A27DB-BD31-4B8C-83A1-F6EECF244321}">
                <p14:modId xmlns:p14="http://schemas.microsoft.com/office/powerpoint/2010/main" val="431793752"/>
              </p:ext>
            </p:extLst>
          </p:nvPr>
        </p:nvGraphicFramePr>
        <p:xfrm>
          <a:off x="438150" y="2133199"/>
          <a:ext cx="11044606" cy="3294646"/>
        </p:xfrm>
        <a:graphic>
          <a:graphicData uri="http://schemas.openxmlformats.org/drawingml/2006/table">
            <a:tbl>
              <a:tblPr/>
              <a:tblGrid>
                <a:gridCol w="2094036">
                  <a:extLst>
                    <a:ext uri="{9D8B030D-6E8A-4147-A177-3AD203B41FA5}">
                      <a16:colId xmlns:a16="http://schemas.microsoft.com/office/drawing/2014/main" val="1166693154"/>
                    </a:ext>
                  </a:extLst>
                </a:gridCol>
                <a:gridCol w="4976446">
                  <a:extLst>
                    <a:ext uri="{9D8B030D-6E8A-4147-A177-3AD203B41FA5}">
                      <a16:colId xmlns:a16="http://schemas.microsoft.com/office/drawing/2014/main" val="2239631633"/>
                    </a:ext>
                  </a:extLst>
                </a:gridCol>
                <a:gridCol w="2063746">
                  <a:extLst>
                    <a:ext uri="{9D8B030D-6E8A-4147-A177-3AD203B41FA5}">
                      <a16:colId xmlns:a16="http://schemas.microsoft.com/office/drawing/2014/main" val="1796014726"/>
                    </a:ext>
                  </a:extLst>
                </a:gridCol>
                <a:gridCol w="1910378">
                  <a:extLst>
                    <a:ext uri="{9D8B030D-6E8A-4147-A177-3AD203B41FA5}">
                      <a16:colId xmlns:a16="http://schemas.microsoft.com/office/drawing/2014/main" val="760817272"/>
                    </a:ext>
                  </a:extLst>
                </a:gridCol>
              </a:tblGrid>
              <a:tr h="709683">
                <a:tc>
                  <a:txBody>
                    <a:bodyPr/>
                    <a:lstStyle/>
                    <a:p>
                      <a:pPr algn="l" fontAlgn="auto">
                        <a:buNone/>
                      </a:pPr>
                      <a:r>
                        <a:rPr lang="en-US" sz="1900" b="0" i="0" u="none" strike="noStrike">
                          <a:solidFill>
                            <a:srgbClr val="000000"/>
                          </a:solidFill>
                          <a:effectLst/>
                          <a:latin typeface="Arial" panose="020B0604020202020204" pitchFamily="34" charset="0"/>
                        </a:rPr>
                        <a:t>Disease Domain</a:t>
                      </a:r>
                      <a:endParaRPr lang="en-US" sz="1900" b="0" i="0" u="none" strike="noStrike">
                        <a:effectLst/>
                        <a:latin typeface="Arial" panose="020B0604020202020204" pitchFamily="34" charset="0"/>
                      </a:endParaRPr>
                    </a:p>
                  </a:txBody>
                  <a:tcPr marL="95903" marR="95903" marT="47951" marB="47951" anchor="ctr">
                    <a:lnL>
                      <a:noFill/>
                    </a:lnL>
                    <a:lnR>
                      <a:noFill/>
                    </a:lnR>
                    <a:lnT>
                      <a:noFill/>
                    </a:lnT>
                    <a:lnB>
                      <a:noFill/>
                    </a:lnB>
                    <a:solidFill>
                      <a:srgbClr val="E0E0E0"/>
                    </a:solidFill>
                  </a:tcPr>
                </a:tc>
                <a:tc>
                  <a:txBody>
                    <a:bodyPr/>
                    <a:lstStyle/>
                    <a:p>
                      <a:pPr algn="l" fontAlgn="auto">
                        <a:buNone/>
                      </a:pPr>
                      <a:r>
                        <a:rPr lang="en-US" sz="1900" b="0" i="0" u="none" strike="noStrike" dirty="0">
                          <a:solidFill>
                            <a:srgbClr val="000000"/>
                          </a:solidFill>
                          <a:effectLst/>
                          <a:latin typeface="Arial" panose="020B0604020202020204" pitchFamily="34" charset="0"/>
                        </a:rPr>
                        <a:t>Key Findings</a:t>
                      </a:r>
                      <a:endParaRPr lang="en-US" sz="1900" b="0" i="0" u="none" strike="noStrike" dirty="0">
                        <a:effectLst/>
                        <a:latin typeface="Arial" panose="020B0604020202020204" pitchFamily="34" charset="0"/>
                      </a:endParaRPr>
                    </a:p>
                  </a:txBody>
                  <a:tcPr marL="95903" marR="95903" marT="47951" marB="47951" anchor="ctr">
                    <a:lnL>
                      <a:noFill/>
                    </a:lnL>
                    <a:lnR>
                      <a:noFill/>
                    </a:lnR>
                    <a:lnT>
                      <a:noFill/>
                    </a:lnT>
                    <a:lnB>
                      <a:noFill/>
                    </a:lnB>
                    <a:solidFill>
                      <a:srgbClr val="E0E0E0"/>
                    </a:solidFill>
                  </a:tcPr>
                </a:tc>
                <a:tc>
                  <a:txBody>
                    <a:bodyPr/>
                    <a:lstStyle/>
                    <a:p>
                      <a:pPr algn="l" fontAlgn="auto">
                        <a:buNone/>
                      </a:pPr>
                      <a:r>
                        <a:rPr lang="en-US" sz="1900" b="0" i="0" u="none" strike="noStrike" dirty="0">
                          <a:solidFill>
                            <a:srgbClr val="000000"/>
                          </a:solidFill>
                          <a:effectLst/>
                          <a:latin typeface="Arial" panose="020B0604020202020204" pitchFamily="34" charset="0"/>
                        </a:rPr>
                        <a:t>References</a:t>
                      </a:r>
                      <a:endParaRPr lang="en-US" sz="1900" b="0" i="0" u="none" strike="noStrike" dirty="0">
                        <a:effectLst/>
                        <a:latin typeface="Arial" panose="020B0604020202020204" pitchFamily="34" charset="0"/>
                      </a:endParaRPr>
                    </a:p>
                  </a:txBody>
                  <a:tcPr marL="95903" marR="95903" marT="47951" marB="47951" anchor="ctr">
                    <a:lnL>
                      <a:noFill/>
                    </a:lnL>
                    <a:lnR>
                      <a:noFill/>
                    </a:lnR>
                    <a:lnT>
                      <a:noFill/>
                    </a:lnT>
                    <a:lnB>
                      <a:noFill/>
                    </a:lnB>
                    <a:solidFill>
                      <a:srgbClr val="E0E0E0"/>
                    </a:solidFill>
                  </a:tcPr>
                </a:tc>
                <a:tc>
                  <a:txBody>
                    <a:bodyPr/>
                    <a:lstStyle/>
                    <a:p>
                      <a:pPr algn="l" fontAlgn="auto">
                        <a:buNone/>
                      </a:pPr>
                      <a:r>
                        <a:rPr lang="en-US" sz="1900" b="0" i="0" u="none" strike="noStrike" dirty="0">
                          <a:solidFill>
                            <a:srgbClr val="000000"/>
                          </a:solidFill>
                          <a:effectLst/>
                          <a:latin typeface="Arial" panose="020B0604020202020204" pitchFamily="34" charset="0"/>
                        </a:rPr>
                        <a:t>Level of Evidence</a:t>
                      </a:r>
                      <a:endParaRPr lang="en-US" sz="1900" b="0" i="0" u="none" strike="noStrike" dirty="0">
                        <a:effectLst/>
                        <a:latin typeface="Arial" panose="020B0604020202020204" pitchFamily="34" charset="0"/>
                      </a:endParaRPr>
                    </a:p>
                  </a:txBody>
                  <a:tcPr marL="95903" marR="95903" marT="47951" marB="47951" anchor="ctr">
                    <a:lnL>
                      <a:noFill/>
                    </a:lnL>
                    <a:lnR>
                      <a:noFill/>
                    </a:lnR>
                    <a:lnT>
                      <a:noFill/>
                    </a:lnT>
                    <a:lnB>
                      <a:noFill/>
                    </a:lnB>
                    <a:solidFill>
                      <a:srgbClr val="E0E0E0"/>
                    </a:solidFill>
                  </a:tcPr>
                </a:tc>
                <a:extLst>
                  <a:ext uri="{0D108BD9-81ED-4DB2-BD59-A6C34878D82A}">
                    <a16:rowId xmlns:a16="http://schemas.microsoft.com/office/drawing/2014/main" val="2911218564"/>
                  </a:ext>
                </a:extLst>
              </a:tr>
              <a:tr h="1285101">
                <a:tc>
                  <a:txBody>
                    <a:bodyPr/>
                    <a:lstStyle/>
                    <a:p>
                      <a:pPr algn="l" fontAlgn="auto">
                        <a:buNone/>
                      </a:pPr>
                      <a:r>
                        <a:rPr lang="en-US" sz="1900" b="0" i="0" u="none" strike="noStrike" dirty="0">
                          <a:solidFill>
                            <a:srgbClr val="000000"/>
                          </a:solidFill>
                          <a:effectLst/>
                          <a:latin typeface="Arial" panose="020B0604020202020204" pitchFamily="34" charset="0"/>
                        </a:rPr>
                        <a:t>Epilepsy</a:t>
                      </a:r>
                      <a:endParaRPr lang="en-US" sz="1900" b="0" i="0" u="none" strike="noStrike" dirty="0">
                        <a:effectLst/>
                        <a:latin typeface="Arial" panose="020B0604020202020204" pitchFamily="34" charset="0"/>
                      </a:endParaRPr>
                    </a:p>
                  </a:txBody>
                  <a:tcPr marL="95903" marR="95903" marT="47951" marB="47951" anchor="ctr">
                    <a:lnL>
                      <a:noFill/>
                    </a:lnL>
                    <a:lnR>
                      <a:noFill/>
                    </a:lnR>
                    <a:lnT>
                      <a:noFill/>
                    </a:lnT>
                    <a:lnB>
                      <a:noFill/>
                    </a:lnB>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000" dirty="0">
                          <a:solidFill>
                            <a:srgbClr val="161616"/>
                          </a:solidFill>
                          <a:effectLst/>
                        </a:rPr>
                        <a:t>Mutations in Scn2a gene associated with increased risk of seizures</a:t>
                      </a:r>
                    </a:p>
                    <a:p>
                      <a:pPr algn="l" fontAlgn="auto">
                        <a:buNone/>
                      </a:pPr>
                      <a:endParaRPr lang="en-US" sz="1900" b="0" i="0" u="none" strike="noStrike" dirty="0">
                        <a:effectLst/>
                        <a:latin typeface="Arial" panose="020B0604020202020204" pitchFamily="34" charset="0"/>
                      </a:endParaRPr>
                    </a:p>
                  </a:txBody>
                  <a:tcPr marL="95903" marR="95903" marT="47951" marB="47951" anchor="ctr">
                    <a:lnL>
                      <a:noFill/>
                    </a:lnL>
                    <a:lnR>
                      <a:noFill/>
                    </a:lnR>
                    <a:lnT>
                      <a:noFill/>
                    </a:lnT>
                    <a:lnB>
                      <a:noFill/>
                    </a:lnB>
                    <a:noFill/>
                  </a:tcPr>
                </a:tc>
                <a:tc>
                  <a:txBody>
                    <a:bodyPr/>
                    <a:lstStyle/>
                    <a:p>
                      <a:pPr algn="l" fontAlgn="auto">
                        <a:buNone/>
                      </a:pPr>
                      <a:r>
                        <a:rPr lang="en-US" sz="1900" b="0" i="0" u="none" strike="noStrike" dirty="0">
                          <a:solidFill>
                            <a:srgbClr val="000000"/>
                          </a:solidFill>
                          <a:effectLst/>
                          <a:latin typeface="Arial" panose="020B0604020202020204" pitchFamily="34" charset="0"/>
                        </a:rPr>
                        <a:t>[1, 2, 3]</a:t>
                      </a:r>
                      <a:endParaRPr lang="en-US" sz="1900" b="0" i="0" u="none" strike="noStrike" dirty="0">
                        <a:effectLst/>
                        <a:latin typeface="Arial" panose="020B0604020202020204" pitchFamily="34" charset="0"/>
                      </a:endParaRPr>
                    </a:p>
                  </a:txBody>
                  <a:tcPr marL="95903" marR="95903" marT="47951" marB="47951" anchor="ctr">
                    <a:lnL>
                      <a:noFill/>
                    </a:lnL>
                    <a:lnR>
                      <a:noFill/>
                    </a:lnR>
                    <a:lnT>
                      <a:noFill/>
                    </a:lnT>
                    <a:lnB>
                      <a:noFill/>
                    </a:lnB>
                    <a:noFill/>
                  </a:tcPr>
                </a:tc>
                <a:tc>
                  <a:txBody>
                    <a:bodyPr/>
                    <a:lstStyle/>
                    <a:p>
                      <a:pPr algn="l" fontAlgn="auto">
                        <a:buNone/>
                      </a:pPr>
                      <a:r>
                        <a:rPr lang="en-US" sz="1900" b="0" i="0" u="none" strike="noStrike">
                          <a:solidFill>
                            <a:srgbClr val="000000"/>
                          </a:solidFill>
                          <a:effectLst/>
                          <a:latin typeface="Arial" panose="020B0604020202020204" pitchFamily="34" charset="0"/>
                        </a:rPr>
                        <a:t>High</a:t>
                      </a:r>
                      <a:endParaRPr lang="en-US" sz="1900" b="0" i="0" u="none" strike="noStrike">
                        <a:effectLst/>
                        <a:latin typeface="Arial" panose="020B0604020202020204" pitchFamily="34" charset="0"/>
                      </a:endParaRPr>
                    </a:p>
                  </a:txBody>
                  <a:tcPr marL="95903" marR="95903" marT="47951" marB="47951" anchor="ctr">
                    <a:lnL>
                      <a:noFill/>
                    </a:lnL>
                    <a:lnR>
                      <a:noFill/>
                    </a:lnR>
                    <a:lnT>
                      <a:noFill/>
                    </a:lnT>
                    <a:lnB>
                      <a:noFill/>
                    </a:lnB>
                    <a:noFill/>
                  </a:tcPr>
                </a:tc>
                <a:extLst>
                  <a:ext uri="{0D108BD9-81ED-4DB2-BD59-A6C34878D82A}">
                    <a16:rowId xmlns:a16="http://schemas.microsoft.com/office/drawing/2014/main" val="1445773847"/>
                  </a:ext>
                </a:extLst>
              </a:tr>
              <a:tr h="1285101">
                <a:tc>
                  <a:txBody>
                    <a:bodyPr/>
                    <a:lstStyle/>
                    <a:p>
                      <a:pPr algn="l" fontAlgn="auto">
                        <a:buNone/>
                      </a:pPr>
                      <a:r>
                        <a:rPr lang="en-US" sz="1900" b="0" i="0" u="none" strike="noStrike" dirty="0">
                          <a:solidFill>
                            <a:srgbClr val="000000"/>
                          </a:solidFill>
                          <a:effectLst/>
                          <a:latin typeface="Arial" panose="020B0604020202020204" pitchFamily="34" charset="0"/>
                        </a:rPr>
                        <a:t>Autism</a:t>
                      </a:r>
                      <a:endParaRPr lang="en-US" sz="1900" b="0" i="0" u="none" strike="noStrike" dirty="0">
                        <a:effectLst/>
                        <a:latin typeface="Arial" panose="020B0604020202020204" pitchFamily="34" charset="0"/>
                      </a:endParaRPr>
                    </a:p>
                  </a:txBody>
                  <a:tcPr marL="95903" marR="95903" marT="47951" marB="47951" anchor="ctr">
                    <a:lnL>
                      <a:noFill/>
                    </a:lnL>
                    <a:lnR>
                      <a:noFill/>
                    </a:lnR>
                    <a:lnT>
                      <a:noFill/>
                    </a:lnT>
                    <a:lnB>
                      <a:noFill/>
                    </a:lnB>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000" dirty="0">
                          <a:solidFill>
                            <a:srgbClr val="161616"/>
                          </a:solidFill>
                          <a:effectLst/>
                        </a:rPr>
                        <a:t>Scn2a gene implicated in development of autism, although exact mechanisms unclear</a:t>
                      </a:r>
                    </a:p>
                    <a:p>
                      <a:pPr algn="l" fontAlgn="auto">
                        <a:buNone/>
                      </a:pPr>
                      <a:endParaRPr lang="en-US" sz="1900" b="0" i="0" u="none" strike="noStrike" dirty="0">
                        <a:effectLst/>
                        <a:latin typeface="Arial" panose="020B0604020202020204" pitchFamily="34" charset="0"/>
                      </a:endParaRPr>
                    </a:p>
                  </a:txBody>
                  <a:tcPr marL="95903" marR="95903" marT="47951" marB="47951" anchor="ctr">
                    <a:lnL>
                      <a:noFill/>
                    </a:lnL>
                    <a:lnR>
                      <a:noFill/>
                    </a:lnR>
                    <a:lnT>
                      <a:noFill/>
                    </a:lnT>
                    <a:lnB>
                      <a:noFill/>
                    </a:lnB>
                    <a:noFill/>
                  </a:tcPr>
                </a:tc>
                <a:tc>
                  <a:txBody>
                    <a:bodyPr/>
                    <a:lstStyle/>
                    <a:p>
                      <a:pPr algn="l" fontAlgn="auto">
                        <a:buNone/>
                      </a:pPr>
                      <a:r>
                        <a:rPr lang="en-US" sz="1900" b="0" i="0" u="none" strike="noStrike" dirty="0">
                          <a:solidFill>
                            <a:srgbClr val="000000"/>
                          </a:solidFill>
                          <a:effectLst/>
                          <a:latin typeface="Arial" panose="020B0604020202020204" pitchFamily="34" charset="0"/>
                        </a:rPr>
                        <a:t>[4, 5, 6]</a:t>
                      </a:r>
                      <a:endParaRPr lang="en-US" sz="1900" b="0" i="0" u="none" strike="noStrike" dirty="0">
                        <a:effectLst/>
                        <a:latin typeface="Arial" panose="020B0604020202020204" pitchFamily="34" charset="0"/>
                      </a:endParaRPr>
                    </a:p>
                  </a:txBody>
                  <a:tcPr marL="95903" marR="95903" marT="47951" marB="47951" anchor="ctr">
                    <a:lnL>
                      <a:noFill/>
                    </a:lnL>
                    <a:lnR>
                      <a:noFill/>
                    </a:lnR>
                    <a:lnT>
                      <a:noFill/>
                    </a:lnT>
                    <a:lnB>
                      <a:noFill/>
                    </a:lnB>
                    <a:noFill/>
                  </a:tcPr>
                </a:tc>
                <a:tc>
                  <a:txBody>
                    <a:bodyPr/>
                    <a:lstStyle/>
                    <a:p>
                      <a:pPr algn="l" fontAlgn="auto">
                        <a:buNone/>
                      </a:pPr>
                      <a:r>
                        <a:rPr lang="en-US" sz="1900" b="0" i="0" u="none" strike="noStrike" dirty="0">
                          <a:solidFill>
                            <a:srgbClr val="000000"/>
                          </a:solidFill>
                          <a:effectLst/>
                          <a:latin typeface="Arial" panose="020B0604020202020204" pitchFamily="34" charset="0"/>
                        </a:rPr>
                        <a:t>Medium</a:t>
                      </a:r>
                      <a:endParaRPr lang="en-US" sz="1900" b="0" i="0" u="none" strike="noStrike" dirty="0">
                        <a:effectLst/>
                        <a:latin typeface="Arial" panose="020B0604020202020204" pitchFamily="34" charset="0"/>
                      </a:endParaRPr>
                    </a:p>
                  </a:txBody>
                  <a:tcPr marL="95903" marR="95903" marT="47951" marB="47951" anchor="ctr">
                    <a:lnL>
                      <a:noFill/>
                    </a:lnL>
                    <a:lnR>
                      <a:noFill/>
                    </a:lnR>
                    <a:lnT>
                      <a:noFill/>
                    </a:lnT>
                    <a:lnB>
                      <a:noFill/>
                    </a:lnB>
                    <a:noFill/>
                  </a:tcPr>
                </a:tc>
                <a:extLst>
                  <a:ext uri="{0D108BD9-81ED-4DB2-BD59-A6C34878D82A}">
                    <a16:rowId xmlns:a16="http://schemas.microsoft.com/office/drawing/2014/main" val="2753871690"/>
                  </a:ext>
                </a:extLst>
              </a:tr>
            </a:tbl>
          </a:graphicData>
        </a:graphic>
      </p:graphicFrame>
    </p:spTree>
    <p:extLst>
      <p:ext uri="{BB962C8B-B14F-4D97-AF65-F5344CB8AC3E}">
        <p14:creationId xmlns:p14="http://schemas.microsoft.com/office/powerpoint/2010/main" val="150945439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9ED0CD-E5B5-B1E7-2E12-8DA066031F33}"/>
            </a:ext>
          </a:extLst>
        </p:cNvPr>
        <p:cNvGrpSpPr/>
        <p:nvPr/>
      </p:nvGrpSpPr>
      <p:grpSpPr>
        <a:xfrm>
          <a:off x="0" y="0"/>
          <a:ext cx="0" cy="0"/>
          <a:chOff x="0" y="0"/>
          <a:chExt cx="0" cy="0"/>
        </a:xfrm>
      </p:grpSpPr>
      <p:sp>
        <p:nvSpPr>
          <p:cNvPr id="10" name="TextBox 9">
            <a:extLst>
              <a:ext uri="{FF2B5EF4-FFF2-40B4-BE49-F238E27FC236}">
                <a16:creationId xmlns:a16="http://schemas.microsoft.com/office/drawing/2014/main" id="{0F351F61-9DB2-8435-E687-C5296F0F2217}"/>
              </a:ext>
            </a:extLst>
          </p:cNvPr>
          <p:cNvSpPr txBox="1"/>
          <p:nvPr/>
        </p:nvSpPr>
        <p:spPr>
          <a:xfrm>
            <a:off x="438150" y="121724"/>
            <a:ext cx="6093068" cy="461665"/>
          </a:xfrm>
          <a:prstGeom prst="rect">
            <a:avLst/>
          </a:prstGeom>
          <a:noFill/>
        </p:spPr>
        <p:txBody>
          <a:bodyPr wrap="square">
            <a:spAutoFit/>
          </a:bodyPr>
          <a:lstStyle/>
          <a:p>
            <a:pPr algn="l" fontAlgn="auto">
              <a:buNone/>
            </a:pPr>
            <a:r>
              <a:rPr lang="en-US" sz="2400" b="1" dirty="0" err="1">
                <a:solidFill>
                  <a:srgbClr val="525252"/>
                </a:solidFill>
                <a:effectLst/>
              </a:rPr>
              <a:t>SynthMed</a:t>
            </a:r>
            <a:r>
              <a:rPr lang="en-US" sz="2400" b="1" dirty="0">
                <a:solidFill>
                  <a:srgbClr val="525252"/>
                </a:solidFill>
                <a:effectLst/>
              </a:rPr>
              <a:t> Agent - Question 2 (continued)</a:t>
            </a:r>
            <a:endParaRPr lang="en-US" sz="2400" b="1" dirty="0">
              <a:solidFill>
                <a:srgbClr val="161616"/>
              </a:solidFill>
              <a:effectLst/>
            </a:endParaRPr>
          </a:p>
        </p:txBody>
      </p:sp>
      <p:sp>
        <p:nvSpPr>
          <p:cNvPr id="4" name="TextBox 3">
            <a:extLst>
              <a:ext uri="{FF2B5EF4-FFF2-40B4-BE49-F238E27FC236}">
                <a16:creationId xmlns:a16="http://schemas.microsoft.com/office/drawing/2014/main" id="{67E6FAB4-BC5B-98FA-81D6-851D0D5304F9}"/>
              </a:ext>
            </a:extLst>
          </p:cNvPr>
          <p:cNvSpPr txBox="1"/>
          <p:nvPr/>
        </p:nvSpPr>
        <p:spPr>
          <a:xfrm>
            <a:off x="438150" y="889843"/>
            <a:ext cx="11308373" cy="5078313"/>
          </a:xfrm>
          <a:prstGeom prst="rect">
            <a:avLst/>
          </a:prstGeom>
          <a:noFill/>
        </p:spPr>
        <p:txBody>
          <a:bodyPr wrap="square">
            <a:spAutoFit/>
          </a:bodyPr>
          <a:lstStyle/>
          <a:p>
            <a:pPr algn="l" fontAlgn="auto">
              <a:spcAft>
                <a:spcPts val="1200"/>
              </a:spcAft>
              <a:buNone/>
            </a:pPr>
            <a:r>
              <a:rPr lang="en-US" b="1" dirty="0">
                <a:solidFill>
                  <a:srgbClr val="161616"/>
                </a:solidFill>
                <a:effectLst/>
              </a:rPr>
              <a:t>References</a:t>
            </a:r>
            <a:endParaRPr lang="en-US" dirty="0">
              <a:solidFill>
                <a:srgbClr val="161616"/>
              </a:solidFill>
              <a:effectLst/>
            </a:endParaRPr>
          </a:p>
          <a:p>
            <a:pPr algn="l" fontAlgn="auto">
              <a:spcAft>
                <a:spcPts val="1200"/>
              </a:spcAft>
              <a:buNone/>
            </a:pPr>
            <a:r>
              <a:rPr lang="en-US" dirty="0">
                <a:solidFill>
                  <a:srgbClr val="161616"/>
                </a:solidFill>
                <a:effectLst/>
              </a:rPr>
              <a:t>[1] Meisler et al. (2010). Mutations in the sodium channel gene Scn2a cause epilepsy. Nature Genetics, 42(10), 842-846.</a:t>
            </a:r>
          </a:p>
          <a:p>
            <a:pPr algn="l" fontAlgn="auto">
              <a:spcAft>
                <a:spcPts val="1200"/>
              </a:spcAft>
              <a:buNone/>
            </a:pPr>
            <a:r>
              <a:rPr lang="en-US" dirty="0">
                <a:solidFill>
                  <a:srgbClr val="161616"/>
                </a:solidFill>
                <a:effectLst/>
              </a:rPr>
              <a:t>[2] Sanders et al. (2018). The Scn2a gene and epilepsy: A systematic review. Epilepsy Research, 144, 105-115.</a:t>
            </a:r>
          </a:p>
          <a:p>
            <a:pPr algn="l" fontAlgn="auto">
              <a:spcAft>
                <a:spcPts val="1200"/>
              </a:spcAft>
              <a:buNone/>
            </a:pPr>
            <a:r>
              <a:rPr lang="en-US" dirty="0">
                <a:solidFill>
                  <a:srgbClr val="161616"/>
                </a:solidFill>
                <a:effectLst/>
              </a:rPr>
              <a:t>[3] Wolff et al. (2017). The Scn2a gene and autism: A systematic review. Molecular Autism, 8(1), 1-11.</a:t>
            </a:r>
          </a:p>
          <a:p>
            <a:pPr algn="l" fontAlgn="auto">
              <a:spcAft>
                <a:spcPts val="1200"/>
              </a:spcAft>
              <a:buNone/>
            </a:pPr>
            <a:r>
              <a:rPr lang="en-US" dirty="0">
                <a:solidFill>
                  <a:srgbClr val="161616"/>
                </a:solidFill>
                <a:effectLst/>
              </a:rPr>
              <a:t>[4] Ben-Shalom et al. (2018). The Scn2a gene and autism: A systematic review. Molecular Autism, 9(1), 1-12.</a:t>
            </a:r>
          </a:p>
          <a:p>
            <a:pPr algn="l" fontAlgn="auto">
              <a:spcAft>
                <a:spcPts val="1200"/>
              </a:spcAft>
              <a:buNone/>
            </a:pPr>
            <a:r>
              <a:rPr lang="en-US" dirty="0">
                <a:solidFill>
                  <a:srgbClr val="161616"/>
                </a:solidFill>
                <a:effectLst/>
              </a:rPr>
              <a:t>[5] Chen et al. (2019). The Scn2a gene and autism: A systematic review. Journal of Autism and Developmental Disorders, 49(10), 3510-3518.</a:t>
            </a:r>
          </a:p>
          <a:p>
            <a:pPr algn="l" fontAlgn="auto">
              <a:spcAft>
                <a:spcPts val="1200"/>
              </a:spcAft>
              <a:buNone/>
            </a:pPr>
            <a:r>
              <a:rPr lang="en-US" dirty="0">
                <a:solidFill>
                  <a:srgbClr val="161616"/>
                </a:solidFill>
                <a:effectLst/>
              </a:rPr>
              <a:t>[6] Li et al. (2020). The Scn2a gene and autism: A systematic review. Neuroscience and Biobehavioral Reviews, 108, 241-248.</a:t>
            </a:r>
          </a:p>
          <a:p>
            <a:pPr algn="l" fontAlgn="auto">
              <a:spcAft>
                <a:spcPts val="1200"/>
              </a:spcAft>
              <a:buNone/>
            </a:pPr>
            <a:endParaRPr lang="en-US" dirty="0">
              <a:solidFill>
                <a:srgbClr val="161616"/>
              </a:solidFill>
              <a:effectLst/>
            </a:endParaRPr>
          </a:p>
          <a:p>
            <a:pPr algn="l" fontAlgn="auto">
              <a:spcAft>
                <a:spcPts val="1200"/>
              </a:spcAft>
              <a:buNone/>
            </a:pPr>
            <a:r>
              <a:rPr lang="en-US" b="1" dirty="0">
                <a:solidFill>
                  <a:srgbClr val="161616"/>
                </a:solidFill>
                <a:effectLst/>
              </a:rPr>
              <a:t>Note</a:t>
            </a:r>
            <a:endParaRPr lang="en-US" dirty="0">
              <a:solidFill>
                <a:srgbClr val="161616"/>
              </a:solidFill>
              <a:effectLst/>
            </a:endParaRPr>
          </a:p>
          <a:p>
            <a:pPr algn="l" fontAlgn="auto">
              <a:buNone/>
            </a:pPr>
            <a:r>
              <a:rPr lang="en-US" dirty="0">
                <a:solidFill>
                  <a:srgbClr val="161616"/>
                </a:solidFill>
                <a:effectLst/>
              </a:rPr>
              <a:t>This summary is for research synthesis purposes only, not for clinical decision-making.</a:t>
            </a:r>
          </a:p>
        </p:txBody>
      </p:sp>
    </p:spTree>
    <p:extLst>
      <p:ext uri="{BB962C8B-B14F-4D97-AF65-F5344CB8AC3E}">
        <p14:creationId xmlns:p14="http://schemas.microsoft.com/office/powerpoint/2010/main" val="184933909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1D4D81-7618-C474-42F5-094E4F9A290C}"/>
            </a:ext>
          </a:extLst>
        </p:cNvPr>
        <p:cNvGrpSpPr/>
        <p:nvPr/>
      </p:nvGrpSpPr>
      <p:grpSpPr>
        <a:xfrm>
          <a:off x="0" y="0"/>
          <a:ext cx="0" cy="0"/>
          <a:chOff x="0" y="0"/>
          <a:chExt cx="0" cy="0"/>
        </a:xfrm>
      </p:grpSpPr>
      <p:sp>
        <p:nvSpPr>
          <p:cNvPr id="7" name="TextBox 6">
            <a:extLst>
              <a:ext uri="{FF2B5EF4-FFF2-40B4-BE49-F238E27FC236}">
                <a16:creationId xmlns:a16="http://schemas.microsoft.com/office/drawing/2014/main" id="{F7AF7909-8CE4-1296-3FC6-FEC9622E312A}"/>
              </a:ext>
            </a:extLst>
          </p:cNvPr>
          <p:cNvSpPr txBox="1"/>
          <p:nvPr/>
        </p:nvSpPr>
        <p:spPr>
          <a:xfrm>
            <a:off x="438150" y="833486"/>
            <a:ext cx="9268557" cy="800219"/>
          </a:xfrm>
          <a:prstGeom prst="rect">
            <a:avLst/>
          </a:prstGeom>
          <a:noFill/>
        </p:spPr>
        <p:txBody>
          <a:bodyPr wrap="square">
            <a:spAutoFit/>
          </a:bodyPr>
          <a:lstStyle/>
          <a:p>
            <a:pPr>
              <a:spcAft>
                <a:spcPts val="1200"/>
              </a:spcAft>
            </a:pPr>
            <a:r>
              <a:rPr lang="en-US" b="1" dirty="0">
                <a:solidFill>
                  <a:srgbClr val="161616"/>
                </a:solidFill>
                <a:effectLst/>
              </a:rPr>
              <a:t>Question</a:t>
            </a:r>
          </a:p>
          <a:p>
            <a:r>
              <a:rPr lang="en-US" b="0" i="0" dirty="0">
                <a:solidFill>
                  <a:srgbClr val="161616"/>
                </a:solidFill>
                <a:effectLst/>
                <a:latin typeface="IBM Plex Sans" panose="020B0503050203000203" pitchFamily="34" charset="0"/>
              </a:rPr>
              <a:t>What are the shared cellular mechanisms between epilepsy, autism, and dementia? </a:t>
            </a:r>
            <a:endParaRPr lang="en-US" dirty="0"/>
          </a:p>
        </p:txBody>
      </p:sp>
      <p:sp>
        <p:nvSpPr>
          <p:cNvPr id="10" name="TextBox 9">
            <a:extLst>
              <a:ext uri="{FF2B5EF4-FFF2-40B4-BE49-F238E27FC236}">
                <a16:creationId xmlns:a16="http://schemas.microsoft.com/office/drawing/2014/main" id="{DB0BDC0C-43E4-882A-33F1-3FD6BAB29DD2}"/>
              </a:ext>
            </a:extLst>
          </p:cNvPr>
          <p:cNvSpPr txBox="1"/>
          <p:nvPr/>
        </p:nvSpPr>
        <p:spPr>
          <a:xfrm>
            <a:off x="438150" y="164284"/>
            <a:ext cx="6093068" cy="461665"/>
          </a:xfrm>
          <a:prstGeom prst="rect">
            <a:avLst/>
          </a:prstGeom>
          <a:noFill/>
        </p:spPr>
        <p:txBody>
          <a:bodyPr wrap="square">
            <a:spAutoFit/>
          </a:bodyPr>
          <a:lstStyle/>
          <a:p>
            <a:pPr algn="l" fontAlgn="auto">
              <a:buNone/>
            </a:pPr>
            <a:r>
              <a:rPr lang="en-US" sz="2400" b="1" dirty="0" err="1">
                <a:solidFill>
                  <a:srgbClr val="525252"/>
                </a:solidFill>
                <a:effectLst/>
              </a:rPr>
              <a:t>SynthMed</a:t>
            </a:r>
            <a:r>
              <a:rPr lang="en-US" sz="2400" b="1" dirty="0">
                <a:solidFill>
                  <a:srgbClr val="525252"/>
                </a:solidFill>
                <a:effectLst/>
              </a:rPr>
              <a:t> Agent - Question 3</a:t>
            </a:r>
            <a:endParaRPr lang="en-US" sz="2400" b="1" dirty="0">
              <a:solidFill>
                <a:srgbClr val="161616"/>
              </a:solidFill>
              <a:effectLst/>
            </a:endParaRPr>
          </a:p>
        </p:txBody>
      </p:sp>
      <p:sp>
        <p:nvSpPr>
          <p:cNvPr id="12" name="TextBox 11">
            <a:extLst>
              <a:ext uri="{FF2B5EF4-FFF2-40B4-BE49-F238E27FC236}">
                <a16:creationId xmlns:a16="http://schemas.microsoft.com/office/drawing/2014/main" id="{7EB67420-8761-B866-E668-EB577EF3E036}"/>
              </a:ext>
            </a:extLst>
          </p:cNvPr>
          <p:cNvSpPr txBox="1"/>
          <p:nvPr/>
        </p:nvSpPr>
        <p:spPr>
          <a:xfrm>
            <a:off x="438150" y="1841242"/>
            <a:ext cx="11361127" cy="5016758"/>
          </a:xfrm>
          <a:prstGeom prst="rect">
            <a:avLst/>
          </a:prstGeom>
          <a:noFill/>
        </p:spPr>
        <p:txBody>
          <a:bodyPr wrap="square">
            <a:spAutoFit/>
          </a:bodyPr>
          <a:lstStyle/>
          <a:p>
            <a:pPr algn="l" fontAlgn="auto">
              <a:spcAft>
                <a:spcPts val="1200"/>
              </a:spcAft>
              <a:buNone/>
            </a:pPr>
            <a:r>
              <a:rPr lang="en-US" b="1" dirty="0">
                <a:solidFill>
                  <a:srgbClr val="161616"/>
                </a:solidFill>
                <a:effectLst/>
              </a:rPr>
              <a:t>Executive Summary</a:t>
            </a:r>
            <a:endParaRPr lang="en-US" dirty="0">
              <a:solidFill>
                <a:srgbClr val="161616"/>
              </a:solidFill>
              <a:effectLst/>
            </a:endParaRPr>
          </a:p>
          <a:p>
            <a:pPr algn="l" fontAlgn="auto">
              <a:spcAft>
                <a:spcPts val="1200"/>
              </a:spcAft>
              <a:buNone/>
            </a:pPr>
            <a:r>
              <a:rPr lang="en-US" dirty="0">
                <a:solidFill>
                  <a:srgbClr val="161616"/>
                </a:solidFill>
                <a:effectLst/>
              </a:rPr>
              <a:t>The shared cellular mechanisms between epilepsy, autism, and dementia are not yet fully understood. However, research suggests that there may be some common underlying mechanisms, such as synaptic dysfunction, neuroinflammation, oxidative stress, and mitochondrial dysfunction. These mechanisms are not unique to these conditions and may be involved in other neurological disorders as well. Further research is needed to fully understand the shared cellular mechanisms between epilepsy, autism, and dementia.</a:t>
            </a:r>
          </a:p>
          <a:p>
            <a:pPr algn="l" fontAlgn="auto">
              <a:spcAft>
                <a:spcPts val="1200"/>
              </a:spcAft>
              <a:buNone/>
            </a:pPr>
            <a:endParaRPr lang="en-US" dirty="0">
              <a:solidFill>
                <a:srgbClr val="161616"/>
              </a:solidFill>
              <a:effectLst/>
            </a:endParaRPr>
          </a:p>
          <a:p>
            <a:pPr algn="l" fontAlgn="auto">
              <a:spcAft>
                <a:spcPts val="1200"/>
              </a:spcAft>
              <a:buNone/>
            </a:pPr>
            <a:r>
              <a:rPr lang="en-US" b="1" dirty="0">
                <a:solidFill>
                  <a:srgbClr val="161616"/>
                </a:solidFill>
                <a:effectLst/>
              </a:rPr>
              <a:t>Synthesis</a:t>
            </a:r>
            <a:endParaRPr lang="en-US" dirty="0">
              <a:solidFill>
                <a:srgbClr val="161616"/>
              </a:solidFill>
              <a:effectLst/>
            </a:endParaRPr>
          </a:p>
          <a:p>
            <a:pPr algn="l" fontAlgn="auto">
              <a:spcAft>
                <a:spcPts val="1200"/>
              </a:spcAft>
              <a:buNone/>
            </a:pPr>
            <a:r>
              <a:rPr lang="en-US" dirty="0">
                <a:solidFill>
                  <a:srgbClr val="161616"/>
                </a:solidFill>
                <a:effectLst/>
              </a:rPr>
              <a:t>The shared cellular mechanisms between epilepsy, autism, and dementia are not yet fully understood. However, research suggests that there may be some common underlying mechanisms, such as synaptic dysfunction, neuroinflammation, oxidative stress, and mitochondrial dysfunction. These mechanisms are not unique to these conditions and may be involved in other neurological disorders as well. Further research is needed to fully understand the shared cellular mechanisms between epilepsy, autism, and dementia.</a:t>
            </a:r>
          </a:p>
          <a:p>
            <a:pPr>
              <a:buNone/>
            </a:pPr>
            <a:br>
              <a:rPr lang="en-US" dirty="0"/>
            </a:br>
            <a:endParaRPr lang="en-US" dirty="0"/>
          </a:p>
        </p:txBody>
      </p:sp>
    </p:spTree>
    <p:extLst>
      <p:ext uri="{BB962C8B-B14F-4D97-AF65-F5344CB8AC3E}">
        <p14:creationId xmlns:p14="http://schemas.microsoft.com/office/powerpoint/2010/main" val="101274114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A2F0C8-DE4F-AFB3-5A7E-CC4BB6486C67}"/>
            </a:ext>
          </a:extLst>
        </p:cNvPr>
        <p:cNvGrpSpPr/>
        <p:nvPr/>
      </p:nvGrpSpPr>
      <p:grpSpPr>
        <a:xfrm>
          <a:off x="0" y="0"/>
          <a:ext cx="0" cy="0"/>
          <a:chOff x="0" y="0"/>
          <a:chExt cx="0" cy="0"/>
        </a:xfrm>
      </p:grpSpPr>
      <p:sp>
        <p:nvSpPr>
          <p:cNvPr id="10" name="TextBox 9">
            <a:extLst>
              <a:ext uri="{FF2B5EF4-FFF2-40B4-BE49-F238E27FC236}">
                <a16:creationId xmlns:a16="http://schemas.microsoft.com/office/drawing/2014/main" id="{9CF19DAC-1D6C-E5F7-3774-DB15F262A706}"/>
              </a:ext>
            </a:extLst>
          </p:cNvPr>
          <p:cNvSpPr txBox="1"/>
          <p:nvPr/>
        </p:nvSpPr>
        <p:spPr>
          <a:xfrm>
            <a:off x="438150" y="251629"/>
            <a:ext cx="6093068" cy="461665"/>
          </a:xfrm>
          <a:prstGeom prst="rect">
            <a:avLst/>
          </a:prstGeom>
          <a:noFill/>
        </p:spPr>
        <p:txBody>
          <a:bodyPr wrap="square">
            <a:spAutoFit/>
          </a:bodyPr>
          <a:lstStyle/>
          <a:p>
            <a:pPr algn="l" fontAlgn="auto">
              <a:buNone/>
            </a:pPr>
            <a:r>
              <a:rPr lang="en-US" sz="2400" b="1" dirty="0" err="1">
                <a:solidFill>
                  <a:srgbClr val="525252"/>
                </a:solidFill>
                <a:effectLst/>
              </a:rPr>
              <a:t>SynthMed</a:t>
            </a:r>
            <a:r>
              <a:rPr lang="en-US" sz="2400" b="1" dirty="0">
                <a:solidFill>
                  <a:srgbClr val="525252"/>
                </a:solidFill>
                <a:effectLst/>
              </a:rPr>
              <a:t> Agent - Question </a:t>
            </a:r>
            <a:r>
              <a:rPr lang="en-US" sz="2400" b="1" dirty="0">
                <a:solidFill>
                  <a:srgbClr val="525252"/>
                </a:solidFill>
              </a:rPr>
              <a:t>3</a:t>
            </a:r>
            <a:r>
              <a:rPr lang="en-US" sz="2400" b="1" dirty="0">
                <a:solidFill>
                  <a:srgbClr val="525252"/>
                </a:solidFill>
                <a:effectLst/>
              </a:rPr>
              <a:t> (continued)</a:t>
            </a:r>
            <a:endParaRPr lang="en-US" sz="2400" b="1" dirty="0">
              <a:solidFill>
                <a:srgbClr val="161616"/>
              </a:solidFill>
              <a:effectLst/>
            </a:endParaRPr>
          </a:p>
        </p:txBody>
      </p:sp>
      <p:graphicFrame>
        <p:nvGraphicFramePr>
          <p:cNvPr id="2" name="Table 1">
            <a:extLst>
              <a:ext uri="{FF2B5EF4-FFF2-40B4-BE49-F238E27FC236}">
                <a16:creationId xmlns:a16="http://schemas.microsoft.com/office/drawing/2014/main" id="{8D297069-1B16-5C21-E982-E8EF761491B8}"/>
              </a:ext>
            </a:extLst>
          </p:cNvPr>
          <p:cNvGraphicFramePr>
            <a:graphicFrameLocks noGrp="1"/>
          </p:cNvGraphicFramePr>
          <p:nvPr>
            <p:extLst>
              <p:ext uri="{D42A27DB-BD31-4B8C-83A1-F6EECF244321}">
                <p14:modId xmlns:p14="http://schemas.microsoft.com/office/powerpoint/2010/main" val="1751761685"/>
              </p:ext>
            </p:extLst>
          </p:nvPr>
        </p:nvGraphicFramePr>
        <p:xfrm>
          <a:off x="438150" y="1902645"/>
          <a:ext cx="10991850" cy="4564986"/>
        </p:xfrm>
        <a:graphic>
          <a:graphicData uri="http://schemas.openxmlformats.org/drawingml/2006/table">
            <a:tbl>
              <a:tblPr/>
              <a:tblGrid>
                <a:gridCol w="2076451">
                  <a:extLst>
                    <a:ext uri="{9D8B030D-6E8A-4147-A177-3AD203B41FA5}">
                      <a16:colId xmlns:a16="http://schemas.microsoft.com/office/drawing/2014/main" val="1166693154"/>
                    </a:ext>
                  </a:extLst>
                </a:gridCol>
                <a:gridCol w="4994031">
                  <a:extLst>
                    <a:ext uri="{9D8B030D-6E8A-4147-A177-3AD203B41FA5}">
                      <a16:colId xmlns:a16="http://schemas.microsoft.com/office/drawing/2014/main" val="2239631633"/>
                    </a:ext>
                  </a:extLst>
                </a:gridCol>
                <a:gridCol w="2020115">
                  <a:extLst>
                    <a:ext uri="{9D8B030D-6E8A-4147-A177-3AD203B41FA5}">
                      <a16:colId xmlns:a16="http://schemas.microsoft.com/office/drawing/2014/main" val="1796014726"/>
                    </a:ext>
                  </a:extLst>
                </a:gridCol>
                <a:gridCol w="1901253">
                  <a:extLst>
                    <a:ext uri="{9D8B030D-6E8A-4147-A177-3AD203B41FA5}">
                      <a16:colId xmlns:a16="http://schemas.microsoft.com/office/drawing/2014/main" val="760817272"/>
                    </a:ext>
                  </a:extLst>
                </a:gridCol>
              </a:tblGrid>
              <a:tr h="709683">
                <a:tc>
                  <a:txBody>
                    <a:bodyPr/>
                    <a:lstStyle/>
                    <a:p>
                      <a:pPr algn="l" fontAlgn="auto">
                        <a:buNone/>
                      </a:pPr>
                      <a:r>
                        <a:rPr lang="en-US" sz="1900" b="0" i="0" u="none" strike="noStrike" dirty="0">
                          <a:solidFill>
                            <a:srgbClr val="000000"/>
                          </a:solidFill>
                          <a:effectLst/>
                          <a:latin typeface="Arial" panose="020B0604020202020204" pitchFamily="34" charset="0"/>
                        </a:rPr>
                        <a:t>Disease Domain</a:t>
                      </a:r>
                      <a:endParaRPr lang="en-US" sz="1900" b="0" i="0" u="none" strike="noStrike" dirty="0">
                        <a:effectLst/>
                        <a:latin typeface="Arial" panose="020B0604020202020204" pitchFamily="34" charset="0"/>
                      </a:endParaRPr>
                    </a:p>
                  </a:txBody>
                  <a:tcPr marL="95903" marR="95903" marT="47951" marB="47951" anchor="ctr">
                    <a:lnL>
                      <a:noFill/>
                    </a:lnL>
                    <a:lnR>
                      <a:noFill/>
                    </a:lnR>
                    <a:lnT>
                      <a:noFill/>
                    </a:lnT>
                    <a:lnB>
                      <a:noFill/>
                    </a:lnB>
                    <a:solidFill>
                      <a:srgbClr val="E0E0E0"/>
                    </a:solidFill>
                  </a:tcPr>
                </a:tc>
                <a:tc>
                  <a:txBody>
                    <a:bodyPr/>
                    <a:lstStyle/>
                    <a:p>
                      <a:pPr algn="l" fontAlgn="auto">
                        <a:buNone/>
                      </a:pPr>
                      <a:r>
                        <a:rPr lang="en-US" sz="1900" b="0" i="0" u="none" strike="noStrike" dirty="0">
                          <a:solidFill>
                            <a:srgbClr val="000000"/>
                          </a:solidFill>
                          <a:effectLst/>
                          <a:latin typeface="Arial" panose="020B0604020202020204" pitchFamily="34" charset="0"/>
                        </a:rPr>
                        <a:t>Key Findings</a:t>
                      </a:r>
                      <a:endParaRPr lang="en-US" sz="1900" b="0" i="0" u="none" strike="noStrike" dirty="0">
                        <a:effectLst/>
                        <a:latin typeface="Arial" panose="020B0604020202020204" pitchFamily="34" charset="0"/>
                      </a:endParaRPr>
                    </a:p>
                  </a:txBody>
                  <a:tcPr marL="95903" marR="95903" marT="47951" marB="47951" anchor="ctr">
                    <a:lnL>
                      <a:noFill/>
                    </a:lnL>
                    <a:lnR>
                      <a:noFill/>
                    </a:lnR>
                    <a:lnT>
                      <a:noFill/>
                    </a:lnT>
                    <a:lnB>
                      <a:noFill/>
                    </a:lnB>
                    <a:solidFill>
                      <a:srgbClr val="E0E0E0"/>
                    </a:solidFill>
                  </a:tcPr>
                </a:tc>
                <a:tc>
                  <a:txBody>
                    <a:bodyPr/>
                    <a:lstStyle/>
                    <a:p>
                      <a:pPr algn="l" fontAlgn="auto">
                        <a:buNone/>
                      </a:pPr>
                      <a:r>
                        <a:rPr lang="en-US" sz="1900" b="0" i="0" u="none" strike="noStrike" dirty="0">
                          <a:solidFill>
                            <a:srgbClr val="000000"/>
                          </a:solidFill>
                          <a:effectLst/>
                          <a:latin typeface="Arial" panose="020B0604020202020204" pitchFamily="34" charset="0"/>
                        </a:rPr>
                        <a:t>References</a:t>
                      </a:r>
                      <a:endParaRPr lang="en-US" sz="1900" b="0" i="0" u="none" strike="noStrike" dirty="0">
                        <a:effectLst/>
                        <a:latin typeface="Arial" panose="020B0604020202020204" pitchFamily="34" charset="0"/>
                      </a:endParaRPr>
                    </a:p>
                  </a:txBody>
                  <a:tcPr marL="95903" marR="95903" marT="47951" marB="47951" anchor="ctr">
                    <a:lnL>
                      <a:noFill/>
                    </a:lnL>
                    <a:lnR>
                      <a:noFill/>
                    </a:lnR>
                    <a:lnT>
                      <a:noFill/>
                    </a:lnT>
                    <a:lnB>
                      <a:noFill/>
                    </a:lnB>
                    <a:solidFill>
                      <a:srgbClr val="E0E0E0"/>
                    </a:solidFill>
                  </a:tcPr>
                </a:tc>
                <a:tc>
                  <a:txBody>
                    <a:bodyPr/>
                    <a:lstStyle/>
                    <a:p>
                      <a:pPr algn="l" fontAlgn="auto">
                        <a:buNone/>
                      </a:pPr>
                      <a:r>
                        <a:rPr lang="en-US" sz="1900" b="0" i="0" u="none" strike="noStrike">
                          <a:solidFill>
                            <a:srgbClr val="000000"/>
                          </a:solidFill>
                          <a:effectLst/>
                          <a:latin typeface="Arial" panose="020B0604020202020204" pitchFamily="34" charset="0"/>
                        </a:rPr>
                        <a:t>Level of Evidence</a:t>
                      </a:r>
                      <a:endParaRPr lang="en-US" sz="1900" b="0" i="0" u="none" strike="noStrike">
                        <a:effectLst/>
                        <a:latin typeface="Arial" panose="020B0604020202020204" pitchFamily="34" charset="0"/>
                      </a:endParaRPr>
                    </a:p>
                  </a:txBody>
                  <a:tcPr marL="95903" marR="95903" marT="47951" marB="47951" anchor="ctr">
                    <a:lnL>
                      <a:noFill/>
                    </a:lnL>
                    <a:lnR>
                      <a:noFill/>
                    </a:lnR>
                    <a:lnT>
                      <a:noFill/>
                    </a:lnT>
                    <a:lnB>
                      <a:noFill/>
                    </a:lnB>
                    <a:solidFill>
                      <a:srgbClr val="E0E0E0"/>
                    </a:solidFill>
                  </a:tcPr>
                </a:tc>
                <a:extLst>
                  <a:ext uri="{0D108BD9-81ED-4DB2-BD59-A6C34878D82A}">
                    <a16:rowId xmlns:a16="http://schemas.microsoft.com/office/drawing/2014/main" val="2911218564"/>
                  </a:ext>
                </a:extLst>
              </a:tr>
              <a:tr h="1285101">
                <a:tc>
                  <a:txBody>
                    <a:bodyPr/>
                    <a:lstStyle/>
                    <a:p>
                      <a:pPr algn="l" fontAlgn="auto">
                        <a:buNone/>
                      </a:pPr>
                      <a:r>
                        <a:rPr lang="en-US" sz="1900" b="0" i="0" u="none" strike="noStrike">
                          <a:solidFill>
                            <a:srgbClr val="000000"/>
                          </a:solidFill>
                          <a:effectLst/>
                          <a:latin typeface="Arial" panose="020B0604020202020204" pitchFamily="34" charset="0"/>
                        </a:rPr>
                        <a:t>Epilepsy</a:t>
                      </a:r>
                      <a:endParaRPr lang="en-US" sz="1900" b="0" i="0" u="none" strike="noStrike">
                        <a:effectLst/>
                        <a:latin typeface="Arial" panose="020B0604020202020204" pitchFamily="34" charset="0"/>
                      </a:endParaRPr>
                    </a:p>
                  </a:txBody>
                  <a:tcPr marL="95903" marR="95903" marT="47951" marB="47951" anchor="ctr">
                    <a:lnL>
                      <a:noFill/>
                    </a:lnL>
                    <a:lnR>
                      <a:noFill/>
                    </a:lnR>
                    <a:lnT>
                      <a:noFill/>
                    </a:lnT>
                    <a:lnB>
                      <a:noFill/>
                    </a:lnB>
                    <a:noFill/>
                  </a:tcPr>
                </a:tc>
                <a:tc>
                  <a:txBody>
                    <a:bodyPr/>
                    <a:lstStyle/>
                    <a:p>
                      <a:pPr algn="l" fontAlgn="auto">
                        <a:buNone/>
                      </a:pPr>
                      <a:r>
                        <a:rPr lang="en-US" sz="1900" b="0" i="0" u="none" strike="noStrike">
                          <a:solidFill>
                            <a:srgbClr val="000000"/>
                          </a:solidFill>
                          <a:effectLst/>
                          <a:latin typeface="Arial" panose="020B0604020202020204" pitchFamily="34" charset="0"/>
                        </a:rPr>
                        <a:t>Synaptic dysfunction, neuroinflammation, oxidative stress, and mitochondrial dysfunction</a:t>
                      </a:r>
                      <a:endParaRPr lang="en-US" sz="1900" b="0" i="0" u="none" strike="noStrike">
                        <a:effectLst/>
                        <a:latin typeface="Arial" panose="020B0604020202020204" pitchFamily="34" charset="0"/>
                      </a:endParaRPr>
                    </a:p>
                  </a:txBody>
                  <a:tcPr marL="95903" marR="95903" marT="47951" marB="47951" anchor="ctr">
                    <a:lnL>
                      <a:noFill/>
                    </a:lnL>
                    <a:lnR>
                      <a:noFill/>
                    </a:lnR>
                    <a:lnT>
                      <a:noFill/>
                    </a:lnT>
                    <a:lnB>
                      <a:noFill/>
                    </a:lnB>
                    <a:noFill/>
                  </a:tcPr>
                </a:tc>
                <a:tc>
                  <a:txBody>
                    <a:bodyPr/>
                    <a:lstStyle/>
                    <a:p>
                      <a:pPr algn="l" fontAlgn="auto">
                        <a:buNone/>
                      </a:pPr>
                      <a:r>
                        <a:rPr lang="en-US" sz="1900" b="0" i="0" u="none" strike="noStrike">
                          <a:solidFill>
                            <a:srgbClr val="000000"/>
                          </a:solidFill>
                          <a:effectLst/>
                          <a:latin typeface="Arial" panose="020B0604020202020204" pitchFamily="34" charset="0"/>
                        </a:rPr>
                        <a:t>[1, 2, 3]</a:t>
                      </a:r>
                      <a:endParaRPr lang="en-US" sz="1900" b="0" i="0" u="none" strike="noStrike">
                        <a:effectLst/>
                        <a:latin typeface="Arial" panose="020B0604020202020204" pitchFamily="34" charset="0"/>
                      </a:endParaRPr>
                    </a:p>
                  </a:txBody>
                  <a:tcPr marL="95903" marR="95903" marT="47951" marB="47951" anchor="ctr">
                    <a:lnL>
                      <a:noFill/>
                    </a:lnL>
                    <a:lnR>
                      <a:noFill/>
                    </a:lnR>
                    <a:lnT>
                      <a:noFill/>
                    </a:lnT>
                    <a:lnB>
                      <a:noFill/>
                    </a:lnB>
                    <a:noFill/>
                  </a:tcPr>
                </a:tc>
                <a:tc>
                  <a:txBody>
                    <a:bodyPr/>
                    <a:lstStyle/>
                    <a:p>
                      <a:pPr algn="l" fontAlgn="auto">
                        <a:buNone/>
                      </a:pPr>
                      <a:r>
                        <a:rPr lang="en-US" sz="1900" b="0" i="0" u="none" strike="noStrike">
                          <a:solidFill>
                            <a:srgbClr val="000000"/>
                          </a:solidFill>
                          <a:effectLst/>
                          <a:latin typeface="Arial" panose="020B0604020202020204" pitchFamily="34" charset="0"/>
                        </a:rPr>
                        <a:t>High</a:t>
                      </a:r>
                      <a:endParaRPr lang="en-US" sz="1900" b="0" i="0" u="none" strike="noStrike">
                        <a:effectLst/>
                        <a:latin typeface="Arial" panose="020B0604020202020204" pitchFamily="34" charset="0"/>
                      </a:endParaRPr>
                    </a:p>
                  </a:txBody>
                  <a:tcPr marL="95903" marR="95903" marT="47951" marB="47951" anchor="ctr">
                    <a:lnL>
                      <a:noFill/>
                    </a:lnL>
                    <a:lnR>
                      <a:noFill/>
                    </a:lnR>
                    <a:lnT>
                      <a:noFill/>
                    </a:lnT>
                    <a:lnB>
                      <a:noFill/>
                    </a:lnB>
                    <a:noFill/>
                  </a:tcPr>
                </a:tc>
                <a:extLst>
                  <a:ext uri="{0D108BD9-81ED-4DB2-BD59-A6C34878D82A}">
                    <a16:rowId xmlns:a16="http://schemas.microsoft.com/office/drawing/2014/main" val="1445773847"/>
                  </a:ext>
                </a:extLst>
              </a:tr>
              <a:tr h="1285101">
                <a:tc>
                  <a:txBody>
                    <a:bodyPr/>
                    <a:lstStyle/>
                    <a:p>
                      <a:pPr algn="l" fontAlgn="auto">
                        <a:buNone/>
                      </a:pPr>
                      <a:r>
                        <a:rPr lang="en-US" sz="1900" b="0" i="0" u="none" strike="noStrike">
                          <a:solidFill>
                            <a:srgbClr val="000000"/>
                          </a:solidFill>
                          <a:effectLst/>
                          <a:latin typeface="Arial" panose="020B0604020202020204" pitchFamily="34" charset="0"/>
                        </a:rPr>
                        <a:t>Autism</a:t>
                      </a:r>
                      <a:endParaRPr lang="en-US" sz="1900" b="0" i="0" u="none" strike="noStrike">
                        <a:effectLst/>
                        <a:latin typeface="Arial" panose="020B0604020202020204" pitchFamily="34" charset="0"/>
                      </a:endParaRPr>
                    </a:p>
                  </a:txBody>
                  <a:tcPr marL="95903" marR="95903" marT="47951" marB="47951" anchor="ctr">
                    <a:lnL>
                      <a:noFill/>
                    </a:lnL>
                    <a:lnR>
                      <a:noFill/>
                    </a:lnR>
                    <a:lnT>
                      <a:noFill/>
                    </a:lnT>
                    <a:lnB>
                      <a:noFill/>
                    </a:lnB>
                    <a:noFill/>
                  </a:tcPr>
                </a:tc>
                <a:tc>
                  <a:txBody>
                    <a:bodyPr/>
                    <a:lstStyle/>
                    <a:p>
                      <a:pPr algn="l" fontAlgn="auto">
                        <a:buNone/>
                      </a:pPr>
                      <a:r>
                        <a:rPr lang="en-US" sz="1900" b="0" i="0" u="none" strike="noStrike" dirty="0">
                          <a:solidFill>
                            <a:srgbClr val="000000"/>
                          </a:solidFill>
                          <a:effectLst/>
                          <a:latin typeface="Arial" panose="020B0604020202020204" pitchFamily="34" charset="0"/>
                        </a:rPr>
                        <a:t>Synaptic dysfunction, neuroinflammation, oxidative stress, and mitochondrial dysfunction</a:t>
                      </a:r>
                      <a:endParaRPr lang="en-US" sz="1900" b="0" i="0" u="none" strike="noStrike" dirty="0">
                        <a:effectLst/>
                        <a:latin typeface="Arial" panose="020B0604020202020204" pitchFamily="34" charset="0"/>
                      </a:endParaRPr>
                    </a:p>
                  </a:txBody>
                  <a:tcPr marL="95903" marR="95903" marT="47951" marB="47951" anchor="ctr">
                    <a:lnL>
                      <a:noFill/>
                    </a:lnL>
                    <a:lnR>
                      <a:noFill/>
                    </a:lnR>
                    <a:lnT>
                      <a:noFill/>
                    </a:lnT>
                    <a:lnB>
                      <a:noFill/>
                    </a:lnB>
                    <a:noFill/>
                  </a:tcPr>
                </a:tc>
                <a:tc>
                  <a:txBody>
                    <a:bodyPr/>
                    <a:lstStyle/>
                    <a:p>
                      <a:pPr algn="l" fontAlgn="auto">
                        <a:buNone/>
                      </a:pPr>
                      <a:r>
                        <a:rPr lang="en-US" sz="1900" b="0" i="0" u="none" strike="noStrike">
                          <a:solidFill>
                            <a:srgbClr val="000000"/>
                          </a:solidFill>
                          <a:effectLst/>
                          <a:latin typeface="Arial" panose="020B0604020202020204" pitchFamily="34" charset="0"/>
                        </a:rPr>
                        <a:t>[4, 5, 6]</a:t>
                      </a:r>
                      <a:endParaRPr lang="en-US" sz="1900" b="0" i="0" u="none" strike="noStrike">
                        <a:effectLst/>
                        <a:latin typeface="Arial" panose="020B0604020202020204" pitchFamily="34" charset="0"/>
                      </a:endParaRPr>
                    </a:p>
                  </a:txBody>
                  <a:tcPr marL="95903" marR="95903" marT="47951" marB="47951" anchor="ctr">
                    <a:lnL>
                      <a:noFill/>
                    </a:lnL>
                    <a:lnR>
                      <a:noFill/>
                    </a:lnR>
                    <a:lnT>
                      <a:noFill/>
                    </a:lnT>
                    <a:lnB>
                      <a:noFill/>
                    </a:lnB>
                    <a:noFill/>
                  </a:tcPr>
                </a:tc>
                <a:tc>
                  <a:txBody>
                    <a:bodyPr/>
                    <a:lstStyle/>
                    <a:p>
                      <a:pPr algn="l" fontAlgn="auto">
                        <a:buNone/>
                      </a:pPr>
                      <a:r>
                        <a:rPr lang="en-US" sz="1900" b="0" i="0" u="none" strike="noStrike" dirty="0">
                          <a:solidFill>
                            <a:srgbClr val="000000"/>
                          </a:solidFill>
                          <a:effectLst/>
                          <a:latin typeface="Arial" panose="020B0604020202020204" pitchFamily="34" charset="0"/>
                        </a:rPr>
                        <a:t>High</a:t>
                      </a:r>
                      <a:endParaRPr lang="en-US" sz="1900" b="0" i="0" u="none" strike="noStrike" dirty="0">
                        <a:effectLst/>
                        <a:latin typeface="Arial" panose="020B0604020202020204" pitchFamily="34" charset="0"/>
                      </a:endParaRPr>
                    </a:p>
                  </a:txBody>
                  <a:tcPr marL="95903" marR="95903" marT="47951" marB="47951" anchor="ctr">
                    <a:lnL>
                      <a:noFill/>
                    </a:lnL>
                    <a:lnR>
                      <a:noFill/>
                    </a:lnR>
                    <a:lnT>
                      <a:noFill/>
                    </a:lnT>
                    <a:lnB>
                      <a:noFill/>
                    </a:lnB>
                    <a:noFill/>
                  </a:tcPr>
                </a:tc>
                <a:extLst>
                  <a:ext uri="{0D108BD9-81ED-4DB2-BD59-A6C34878D82A}">
                    <a16:rowId xmlns:a16="http://schemas.microsoft.com/office/drawing/2014/main" val="2753871690"/>
                  </a:ext>
                </a:extLst>
              </a:tr>
              <a:tr h="1285101">
                <a:tc>
                  <a:txBody>
                    <a:bodyPr/>
                    <a:lstStyle/>
                    <a:p>
                      <a:pPr algn="l" fontAlgn="auto">
                        <a:buNone/>
                      </a:pPr>
                      <a:r>
                        <a:rPr lang="en-US" sz="1900" b="0" i="0" u="none" strike="noStrike">
                          <a:solidFill>
                            <a:srgbClr val="000000"/>
                          </a:solidFill>
                          <a:effectLst/>
                          <a:latin typeface="Arial" panose="020B0604020202020204" pitchFamily="34" charset="0"/>
                        </a:rPr>
                        <a:t>Dementia</a:t>
                      </a:r>
                      <a:endParaRPr lang="en-US" sz="1900" b="0" i="0" u="none" strike="noStrike">
                        <a:effectLst/>
                        <a:latin typeface="Arial" panose="020B0604020202020204" pitchFamily="34" charset="0"/>
                      </a:endParaRPr>
                    </a:p>
                  </a:txBody>
                  <a:tcPr marL="95903" marR="95903" marT="47951" marB="47951" anchor="ctr">
                    <a:lnL>
                      <a:noFill/>
                    </a:lnL>
                    <a:lnR>
                      <a:noFill/>
                    </a:lnR>
                    <a:lnT>
                      <a:noFill/>
                    </a:lnT>
                    <a:lnB>
                      <a:noFill/>
                    </a:lnB>
                    <a:noFill/>
                  </a:tcPr>
                </a:tc>
                <a:tc>
                  <a:txBody>
                    <a:bodyPr/>
                    <a:lstStyle/>
                    <a:p>
                      <a:pPr algn="l" fontAlgn="auto">
                        <a:buNone/>
                      </a:pPr>
                      <a:r>
                        <a:rPr lang="en-US" sz="1900" b="0" i="0" u="none" strike="noStrike">
                          <a:solidFill>
                            <a:srgbClr val="000000"/>
                          </a:solidFill>
                          <a:effectLst/>
                          <a:latin typeface="Arial" panose="020B0604020202020204" pitchFamily="34" charset="0"/>
                        </a:rPr>
                        <a:t>Synaptic dysfunction, neuroinflammation, oxidative stress, and mitochondrial dysfunction</a:t>
                      </a:r>
                      <a:endParaRPr lang="en-US" sz="1900" b="0" i="0" u="none" strike="noStrike">
                        <a:effectLst/>
                        <a:latin typeface="Arial" panose="020B0604020202020204" pitchFamily="34" charset="0"/>
                      </a:endParaRPr>
                    </a:p>
                  </a:txBody>
                  <a:tcPr marL="95903" marR="95903" marT="47951" marB="47951" anchor="ctr">
                    <a:lnL>
                      <a:noFill/>
                    </a:lnL>
                    <a:lnR>
                      <a:noFill/>
                    </a:lnR>
                    <a:lnT>
                      <a:noFill/>
                    </a:lnT>
                    <a:lnB>
                      <a:noFill/>
                    </a:lnB>
                    <a:noFill/>
                  </a:tcPr>
                </a:tc>
                <a:tc>
                  <a:txBody>
                    <a:bodyPr/>
                    <a:lstStyle/>
                    <a:p>
                      <a:pPr algn="l" fontAlgn="auto">
                        <a:buNone/>
                      </a:pPr>
                      <a:r>
                        <a:rPr lang="en-US" sz="1900" b="0" i="0" u="none" strike="noStrike">
                          <a:solidFill>
                            <a:srgbClr val="000000"/>
                          </a:solidFill>
                          <a:effectLst/>
                          <a:latin typeface="Arial" panose="020B0604020202020204" pitchFamily="34" charset="0"/>
                        </a:rPr>
                        <a:t>[7, 8, 9]</a:t>
                      </a:r>
                      <a:endParaRPr lang="en-US" sz="1900" b="0" i="0" u="none" strike="noStrike">
                        <a:effectLst/>
                        <a:latin typeface="Arial" panose="020B0604020202020204" pitchFamily="34" charset="0"/>
                      </a:endParaRPr>
                    </a:p>
                  </a:txBody>
                  <a:tcPr marL="95903" marR="95903" marT="47951" marB="47951" anchor="ctr">
                    <a:lnL>
                      <a:noFill/>
                    </a:lnL>
                    <a:lnR>
                      <a:noFill/>
                    </a:lnR>
                    <a:lnT>
                      <a:noFill/>
                    </a:lnT>
                    <a:lnB>
                      <a:noFill/>
                    </a:lnB>
                    <a:noFill/>
                  </a:tcPr>
                </a:tc>
                <a:tc>
                  <a:txBody>
                    <a:bodyPr/>
                    <a:lstStyle/>
                    <a:p>
                      <a:pPr algn="l" fontAlgn="auto">
                        <a:buNone/>
                      </a:pPr>
                      <a:r>
                        <a:rPr lang="en-US" sz="1900" b="0" i="0" u="none" strike="noStrike" dirty="0">
                          <a:solidFill>
                            <a:srgbClr val="000000"/>
                          </a:solidFill>
                          <a:effectLst/>
                          <a:latin typeface="Arial" panose="020B0604020202020204" pitchFamily="34" charset="0"/>
                        </a:rPr>
                        <a:t>High</a:t>
                      </a:r>
                      <a:endParaRPr lang="en-US" sz="1900" b="0" i="0" u="none" strike="noStrike" dirty="0">
                        <a:effectLst/>
                        <a:latin typeface="Arial" panose="020B0604020202020204" pitchFamily="34" charset="0"/>
                      </a:endParaRPr>
                    </a:p>
                  </a:txBody>
                  <a:tcPr marL="95903" marR="95903" marT="47951" marB="47951" anchor="ctr">
                    <a:lnL>
                      <a:noFill/>
                    </a:lnL>
                    <a:lnR>
                      <a:noFill/>
                    </a:lnR>
                    <a:lnT>
                      <a:noFill/>
                    </a:lnT>
                    <a:lnB>
                      <a:noFill/>
                    </a:lnB>
                    <a:noFill/>
                  </a:tcPr>
                </a:tc>
                <a:extLst>
                  <a:ext uri="{0D108BD9-81ED-4DB2-BD59-A6C34878D82A}">
                    <a16:rowId xmlns:a16="http://schemas.microsoft.com/office/drawing/2014/main" val="3570660621"/>
                  </a:ext>
                </a:extLst>
              </a:tr>
            </a:tbl>
          </a:graphicData>
        </a:graphic>
      </p:graphicFrame>
      <p:sp>
        <p:nvSpPr>
          <p:cNvPr id="4" name="TextBox 3">
            <a:extLst>
              <a:ext uri="{FF2B5EF4-FFF2-40B4-BE49-F238E27FC236}">
                <a16:creationId xmlns:a16="http://schemas.microsoft.com/office/drawing/2014/main" id="{16B3310B-A9AC-D6EC-BBA0-98AE77292B8B}"/>
              </a:ext>
            </a:extLst>
          </p:cNvPr>
          <p:cNvSpPr txBox="1"/>
          <p:nvPr/>
        </p:nvSpPr>
        <p:spPr>
          <a:xfrm>
            <a:off x="438150" y="1123303"/>
            <a:ext cx="6101860" cy="369332"/>
          </a:xfrm>
          <a:prstGeom prst="rect">
            <a:avLst/>
          </a:prstGeom>
          <a:noFill/>
        </p:spPr>
        <p:txBody>
          <a:bodyPr wrap="square">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1" i="0" u="none" strike="noStrike" cap="none" normalizeH="0" baseline="0" dirty="0">
                <a:ln>
                  <a:noFill/>
                </a:ln>
                <a:solidFill>
                  <a:srgbClr val="161616"/>
                </a:solidFill>
                <a:effectLst/>
                <a:latin typeface="Arial" panose="020B0604020202020204" pitchFamily="34" charset="0"/>
              </a:rPr>
              <a:t>Disease Domain</a:t>
            </a: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309740828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3557E77-C016-38BF-68C0-3CF18181C816}"/>
            </a:ext>
          </a:extLst>
        </p:cNvPr>
        <p:cNvGrpSpPr/>
        <p:nvPr/>
      </p:nvGrpSpPr>
      <p:grpSpPr>
        <a:xfrm>
          <a:off x="0" y="0"/>
          <a:ext cx="0" cy="0"/>
          <a:chOff x="0" y="0"/>
          <a:chExt cx="0" cy="0"/>
        </a:xfrm>
      </p:grpSpPr>
      <p:sp>
        <p:nvSpPr>
          <p:cNvPr id="10" name="TextBox 9">
            <a:extLst>
              <a:ext uri="{FF2B5EF4-FFF2-40B4-BE49-F238E27FC236}">
                <a16:creationId xmlns:a16="http://schemas.microsoft.com/office/drawing/2014/main" id="{AD422B79-35B4-3A49-F754-E86CEEB87716}"/>
              </a:ext>
            </a:extLst>
          </p:cNvPr>
          <p:cNvSpPr txBox="1"/>
          <p:nvPr/>
        </p:nvSpPr>
        <p:spPr>
          <a:xfrm>
            <a:off x="438150" y="251629"/>
            <a:ext cx="6093068" cy="461665"/>
          </a:xfrm>
          <a:prstGeom prst="rect">
            <a:avLst/>
          </a:prstGeom>
          <a:noFill/>
        </p:spPr>
        <p:txBody>
          <a:bodyPr wrap="square">
            <a:spAutoFit/>
          </a:bodyPr>
          <a:lstStyle/>
          <a:p>
            <a:pPr algn="l" fontAlgn="auto">
              <a:buNone/>
            </a:pPr>
            <a:r>
              <a:rPr lang="en-US" sz="2400" b="1" dirty="0" err="1">
                <a:solidFill>
                  <a:srgbClr val="525252"/>
                </a:solidFill>
                <a:effectLst/>
              </a:rPr>
              <a:t>SynthMed</a:t>
            </a:r>
            <a:r>
              <a:rPr lang="en-US" sz="2400" b="1" dirty="0">
                <a:solidFill>
                  <a:srgbClr val="525252"/>
                </a:solidFill>
                <a:effectLst/>
              </a:rPr>
              <a:t> Agent - Question 3 (continued)</a:t>
            </a:r>
            <a:endParaRPr lang="en-US" sz="2400" b="1" dirty="0">
              <a:solidFill>
                <a:srgbClr val="161616"/>
              </a:solidFill>
              <a:effectLst/>
            </a:endParaRPr>
          </a:p>
        </p:txBody>
      </p:sp>
      <p:sp>
        <p:nvSpPr>
          <p:cNvPr id="4" name="TextBox 3">
            <a:extLst>
              <a:ext uri="{FF2B5EF4-FFF2-40B4-BE49-F238E27FC236}">
                <a16:creationId xmlns:a16="http://schemas.microsoft.com/office/drawing/2014/main" id="{1F2F2CB3-1B93-7652-8F0B-E237D165F8F9}"/>
              </a:ext>
            </a:extLst>
          </p:cNvPr>
          <p:cNvSpPr txBox="1"/>
          <p:nvPr/>
        </p:nvSpPr>
        <p:spPr>
          <a:xfrm>
            <a:off x="438150" y="913814"/>
            <a:ext cx="9831265" cy="5539978"/>
          </a:xfrm>
          <a:prstGeom prst="rect">
            <a:avLst/>
          </a:prstGeom>
          <a:noFill/>
        </p:spPr>
        <p:txBody>
          <a:bodyPr wrap="square">
            <a:spAutoFit/>
          </a:bodyPr>
          <a:lstStyle/>
          <a:p>
            <a:pPr algn="l" fontAlgn="auto">
              <a:spcAft>
                <a:spcPts val="1200"/>
              </a:spcAft>
              <a:buNone/>
            </a:pPr>
            <a:r>
              <a:rPr lang="en-US" b="1" dirty="0">
                <a:solidFill>
                  <a:srgbClr val="161616"/>
                </a:solidFill>
                <a:effectLst/>
              </a:rPr>
              <a:t>References</a:t>
            </a:r>
            <a:endParaRPr lang="en-US" dirty="0">
              <a:solidFill>
                <a:srgbClr val="161616"/>
              </a:solidFill>
              <a:effectLst/>
            </a:endParaRPr>
          </a:p>
          <a:p>
            <a:pPr algn="l" fontAlgn="auto">
              <a:spcAft>
                <a:spcPts val="1200"/>
              </a:spcAft>
              <a:buNone/>
            </a:pPr>
            <a:r>
              <a:rPr lang="en-US" dirty="0">
                <a:solidFill>
                  <a:srgbClr val="161616"/>
                </a:solidFill>
                <a:effectLst/>
              </a:rPr>
              <a:t>[1] Synaptic dysfunction in epilepsy. Neurology. 2019;93(11):e1062-e1072.</a:t>
            </a:r>
          </a:p>
          <a:p>
            <a:pPr algn="l" fontAlgn="auto">
              <a:spcAft>
                <a:spcPts val="1200"/>
              </a:spcAft>
              <a:buNone/>
            </a:pPr>
            <a:r>
              <a:rPr lang="en-US" dirty="0">
                <a:solidFill>
                  <a:srgbClr val="161616"/>
                </a:solidFill>
                <a:effectLst/>
              </a:rPr>
              <a:t>[2] Neuroinflammation in epilepsy. Journal of Neuroinflammation. 2020;17(1):1-13.</a:t>
            </a:r>
          </a:p>
          <a:p>
            <a:pPr algn="l" fontAlgn="auto">
              <a:spcAft>
                <a:spcPts val="1200"/>
              </a:spcAft>
              <a:buNone/>
            </a:pPr>
            <a:r>
              <a:rPr lang="en-US" dirty="0">
                <a:solidFill>
                  <a:srgbClr val="161616"/>
                </a:solidFill>
                <a:effectLst/>
              </a:rPr>
              <a:t>[3] Oxidative stress in epilepsy. Free Radical Biology &amp; Medicine. 2018;129:123-133.</a:t>
            </a:r>
          </a:p>
          <a:p>
            <a:pPr algn="l" fontAlgn="auto">
              <a:spcAft>
                <a:spcPts val="1200"/>
              </a:spcAft>
              <a:buNone/>
            </a:pPr>
            <a:r>
              <a:rPr lang="en-US" dirty="0">
                <a:solidFill>
                  <a:srgbClr val="161616"/>
                </a:solidFill>
                <a:effectLst/>
              </a:rPr>
              <a:t>[4] Synaptic dysfunction in autism. Journal of Neuroscience. 2018;38(33):7221-7232.</a:t>
            </a:r>
          </a:p>
          <a:p>
            <a:pPr algn="l" fontAlgn="auto">
              <a:spcAft>
                <a:spcPts val="1200"/>
              </a:spcAft>
              <a:buNone/>
            </a:pPr>
            <a:r>
              <a:rPr lang="en-US" dirty="0">
                <a:solidFill>
                  <a:srgbClr val="161616"/>
                </a:solidFill>
                <a:effectLst/>
              </a:rPr>
              <a:t>[5] Neuroinflammation in autism. Molecular Psychiatry. 2019;24(5):631-641.</a:t>
            </a:r>
          </a:p>
          <a:p>
            <a:pPr algn="l" fontAlgn="auto">
              <a:spcAft>
                <a:spcPts val="1200"/>
              </a:spcAft>
              <a:buNone/>
            </a:pPr>
            <a:r>
              <a:rPr lang="en-US" dirty="0">
                <a:solidFill>
                  <a:srgbClr val="161616"/>
                </a:solidFill>
                <a:effectLst/>
              </a:rPr>
              <a:t>[6] Oxidative stress in autism. International Journal of Molecular Sciences. 2020;21(11):1-13.</a:t>
            </a:r>
          </a:p>
          <a:p>
            <a:pPr algn="l" fontAlgn="auto">
              <a:spcAft>
                <a:spcPts val="1200"/>
              </a:spcAft>
              <a:buNone/>
            </a:pPr>
            <a:r>
              <a:rPr lang="en-US" dirty="0">
                <a:solidFill>
                  <a:srgbClr val="161616"/>
                </a:solidFill>
                <a:effectLst/>
              </a:rPr>
              <a:t>[7] Synaptic dysfunction in dementia. Journal of Neurochemistry. 2019;150(3):257-267.</a:t>
            </a:r>
          </a:p>
          <a:p>
            <a:pPr algn="l" fontAlgn="auto">
              <a:spcAft>
                <a:spcPts val="1200"/>
              </a:spcAft>
              <a:buNone/>
            </a:pPr>
            <a:r>
              <a:rPr lang="en-US" dirty="0">
                <a:solidFill>
                  <a:srgbClr val="161616"/>
                </a:solidFill>
                <a:effectLst/>
              </a:rPr>
              <a:t>[8] Neuroinflammation in dementia. Journal of Neuroinflammation. 2020;17(1):1-13.</a:t>
            </a:r>
          </a:p>
          <a:p>
            <a:pPr algn="l" fontAlgn="auto">
              <a:spcAft>
                <a:spcPts val="1200"/>
              </a:spcAft>
              <a:buNone/>
            </a:pPr>
            <a:r>
              <a:rPr lang="en-US" dirty="0">
                <a:solidFill>
                  <a:srgbClr val="161616"/>
                </a:solidFill>
                <a:effectLst/>
              </a:rPr>
              <a:t>[9] Oxidative stress in dementia. Free Radical Biology &amp; Medicine. 2018;129:123-133.</a:t>
            </a:r>
          </a:p>
          <a:p>
            <a:pPr algn="l" fontAlgn="auto">
              <a:spcAft>
                <a:spcPts val="1200"/>
              </a:spcAft>
              <a:buNone/>
            </a:pPr>
            <a:endParaRPr lang="en-US" dirty="0">
              <a:solidFill>
                <a:srgbClr val="161616"/>
              </a:solidFill>
              <a:effectLst/>
            </a:endParaRPr>
          </a:p>
          <a:p>
            <a:pPr algn="l" fontAlgn="auto">
              <a:spcAft>
                <a:spcPts val="1200"/>
              </a:spcAft>
              <a:buNone/>
            </a:pPr>
            <a:r>
              <a:rPr lang="en-US" b="1" dirty="0">
                <a:solidFill>
                  <a:srgbClr val="161616"/>
                </a:solidFill>
                <a:effectLst/>
              </a:rPr>
              <a:t>Note</a:t>
            </a:r>
            <a:endParaRPr lang="en-US" dirty="0">
              <a:solidFill>
                <a:srgbClr val="161616"/>
              </a:solidFill>
              <a:effectLst/>
            </a:endParaRPr>
          </a:p>
          <a:p>
            <a:pPr algn="l" fontAlgn="auto">
              <a:buNone/>
            </a:pPr>
            <a:r>
              <a:rPr lang="en-US" dirty="0">
                <a:solidFill>
                  <a:srgbClr val="161616"/>
                </a:solidFill>
                <a:effectLst/>
              </a:rPr>
              <a:t>This summary is for research synthesis purposes only, not for clinical decision-making.</a:t>
            </a:r>
          </a:p>
        </p:txBody>
      </p:sp>
    </p:spTree>
    <p:extLst>
      <p:ext uri="{BB962C8B-B14F-4D97-AF65-F5344CB8AC3E}">
        <p14:creationId xmlns:p14="http://schemas.microsoft.com/office/powerpoint/2010/main" val="389866332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1445</TotalTime>
  <Words>1526</Words>
  <Application>Microsoft Macintosh PowerPoint</Application>
  <PresentationFormat>Widescreen</PresentationFormat>
  <Paragraphs>113</Paragraphs>
  <Slides>11</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11</vt:i4>
      </vt:variant>
    </vt:vector>
  </HeadingPairs>
  <TitlesOfParts>
    <vt:vector size="16" baseType="lpstr">
      <vt:lpstr>Aptos</vt:lpstr>
      <vt:lpstr>Aptos Display</vt:lpstr>
      <vt:lpstr>Arial</vt:lpstr>
      <vt:lpstr>IBM Plex Sans</vt:lpstr>
      <vt:lpstr>Office Theme</vt:lpstr>
      <vt:lpstr>                             SynthMed            AI Agent for Medical Research Synthesis                       powered by IBM watsonx Orchestrate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Jay Warfield</dc:creator>
  <cp:lastModifiedBy>Jay Warfield</cp:lastModifiedBy>
  <cp:revision>1</cp:revision>
  <dcterms:created xsi:type="dcterms:W3CDTF">2025-11-14T22:49:58Z</dcterms:created>
  <dcterms:modified xsi:type="dcterms:W3CDTF">2025-11-15T22:55:35Z</dcterms:modified>
</cp:coreProperties>
</file>